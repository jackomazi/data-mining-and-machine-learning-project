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9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5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Project </a:t>
            </a:r>
            <a:b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 Artificial Intelligence and Data Engineering — Academic Year 2025–2026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8321040" cy="18288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Alessio Grillo — ID: 654947   |   Andrea Giacomazzi — ID: 720164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[12/06/2026]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25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· features · EDA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60934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Experiments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model selection · hyperparameter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9933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EF2F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816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C2B4A"/>
                </a:solidFill>
              </a:rPr>
              <a:t>PART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6072" y="234086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11480" y="2688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29169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cross-validation · final model performance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307238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techniques · consistency with domain knowledge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456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0F5F4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138160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8F84"/>
                </a:solidFill>
              </a:rPr>
              <a:t>PART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" y="380390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4379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· limitations ·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TECHNICAL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Pipeline &amp; Results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· feature engineering · model selection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· evaluation · test-set results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predict whether it is credible or deceptive based on its text alone. 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type: binary classification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faster than anyone can fact-check it, shaping opinions on elections, health, and public trust. 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cannot check whether something is true facts, it can only detect stylistic and linguistic patterns. And the best fake articles are written to sound exactly like real ones.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28032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4736592" y="16093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6093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5" name="Text 13"/>
          <p:cNvSpPr/>
          <p:nvPr/>
        </p:nvSpPr>
        <p:spPr>
          <a:xfrm>
            <a:off x="4736592" y="1883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1883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72.134 samples, 3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157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veracity (0: Fake News, 1: Real News)</a:t>
            </a:r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1" name="Text 19"/>
          <p:cNvSpPr/>
          <p:nvPr/>
        </p:nvSpPr>
        <p:spPr>
          <a:xfrm>
            <a:off x="4736592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4323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numerical, 2 textual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7004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06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706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0,21% overall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29809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29809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 / 48.5%  balanced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1868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32552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529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F1-score, Precision</a:t>
            </a:r>
            <a:r>
              <a:rPr lang="en-US" sz="950" i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Recall, AUC-ROC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Feature distributions (histograms / box plots grouped by class or target)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4345885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79" y="4694863"/>
            <a:ext cx="85840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/>
              <a:t>Stylometric features</a:t>
            </a:r>
            <a:r>
              <a:rPr lang="en-US" sz="1000" dirty="0"/>
              <a:t> reveal significant structural and stylistic differences between classes, proving that how a news article is written is highly indicative of its veracity. </a:t>
            </a:r>
          </a:p>
          <a:p>
            <a:r>
              <a:rPr lang="en-US" sz="1000" b="1" dirty="0"/>
              <a:t>N-gram </a:t>
            </a:r>
            <a:r>
              <a:rPr lang="en-US" sz="1000" dirty="0"/>
              <a:t>The N-gram analysis reveals strong dataset-specific biases rather than purely semantic differences.</a:t>
            </a:r>
          </a:p>
          <a:p>
            <a:r>
              <a:rPr lang="en-US" sz="1000" b="1" dirty="0"/>
              <a:t> </a:t>
            </a:r>
            <a:endParaRPr lang="it-IT" dirty="0"/>
          </a:p>
        </p:txBody>
      </p:sp>
      <p:pic>
        <p:nvPicPr>
          <p:cNvPr id="22" name="Picture 2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FC6164B-906C-C990-0470-C6D09DDDC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" y="1286307"/>
            <a:ext cx="5000461" cy="2649673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98053734-F748-540B-5315-B958720CD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327" y="1045372"/>
            <a:ext cx="3974180" cy="29493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vectorization using TF IDF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TF IDF features from concatenated title + body.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of 5 stylometric features: title uppercase ratio, text length, spelling error rate, exclamation &amp; question mark density (both title and text).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scaling on the 5 stylometric features to align their magnitude with the sparse TF IDF matrix.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the sparse TF IDF matrix with the dense, scaled stylometric features to create a unified feature space.</a:t>
            </a:r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based Filtering: Limited the TF IDF vocabulary to the top 10,000 most frequent tokens to reduce dimensionality and eliminate rare noise/typos ( w e discarded some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the n gram plot.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the unified feature pool using a Chi Square test.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uppercase ratio emerged as the first overall predictor, and title exclamation ratio ranked in the Top 20.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features with lower Chi Square scores (text length, exclamation ratio, spelling errors) because EDA shows they contain critical structural anomalies. This preserves domain robustness against keyword overfitting.</a:t>
            </a:r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captures vocabulary shifts and source-mimicking artifacts confirmed by EDA.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features target sensationalism signals that differ significantly between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Avoiding Data Leakage &amp; Bias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4A6587"/>
          </a:solidFill>
          <a:ln w="12700">
            <a:solidFill>
              <a:srgbClr val="4A658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27632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00784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1801368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36392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36976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0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72584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007608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108192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fold)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443216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4380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54380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3949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steps (TF-IDF,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scaler,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removal) wrapped in a Scikit-Learn Pipeline,  fitted exclusively on training folds.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performed before any transformation. Test folds only ever see frozen parameters.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set distribution ever influences the vocabulary, scaling bounds, or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list.</a:t>
            </a:r>
          </a:p>
        </p:txBody>
      </p:sp>
      <p:sp>
        <p:nvSpPr>
          <p:cNvPr id="30" name="Shape 28"/>
          <p:cNvSpPr/>
          <p:nvPr/>
        </p:nvSpPr>
        <p:spPr>
          <a:xfrm>
            <a:off x="324612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37413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7413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balancing technique applied. The dataset is naturally balanced (51.5% fake / 48.5% real), so SMOTE and class weights were unnecessary.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preserves the natural class ratio across every split, ensuring stable and comparable metrics throughout.</a:t>
            </a:r>
          </a:p>
        </p:txBody>
      </p:sp>
      <p:sp>
        <p:nvSpPr>
          <p:cNvPr id="33" name="Shape 31"/>
          <p:cNvSpPr/>
          <p:nvPr/>
        </p:nvSpPr>
        <p:spPr>
          <a:xfrm>
            <a:off x="608076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20877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Justification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08776" y="2578608"/>
            <a:ext cx="2478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&amp; Accuracy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 Balanced classes make accuracy meaningful; F1 jointly captures precision and recall.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reported as secondary metric to assess discriminative power across all decision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Hyperparameter Optimization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25340" y="15087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5340" y="1783080"/>
            <a:ext cx="4069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4698492" y="186015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25540" y="1872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(LR, NB, SVM) + ensemble (RF, AdaBoost, </a:t>
            </a:r>
            <a:r>
              <a:rPr lang="en-US" sz="80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80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covering linear, probabilistic, geometric and boosting families</a:t>
            </a:r>
          </a:p>
        </p:txBody>
      </p:sp>
      <p:sp>
        <p:nvSpPr>
          <p:cNvPr id="14" name="Shape 12"/>
          <p:cNvSpPr/>
          <p:nvPr/>
        </p:nvSpPr>
        <p:spPr>
          <a:xfrm>
            <a:off x="4625340" y="2148840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698492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5540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for all models</a:t>
            </a:r>
            <a:endParaRPr lang="en-US" sz="950" i="1" dirty="0">
              <a:solidFill>
                <a:srgbClr val="4A65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25340" y="2450592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98492" y="2496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25540" y="2496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5340" y="2752344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698492" y="27980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25540" y="27980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highest CV accuracy (0.978) with lowest variance</a:t>
            </a:r>
          </a:p>
        </p:txBody>
      </p:sp>
      <p:sp>
        <p:nvSpPr>
          <p:cNvPr id="23" name="Shape 21"/>
          <p:cNvSpPr/>
          <p:nvPr/>
        </p:nvSpPr>
        <p:spPr>
          <a:xfrm>
            <a:off x="4625340" y="3054096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698492" y="3099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25540" y="3099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(5 combinations x model)</a:t>
            </a:r>
          </a:p>
        </p:txBody>
      </p:sp>
      <p:sp>
        <p:nvSpPr>
          <p:cNvPr id="26" name="Shape 24"/>
          <p:cNvSpPr/>
          <p:nvPr/>
        </p:nvSpPr>
        <p:spPr>
          <a:xfrm>
            <a:off x="4625340" y="3355848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698492" y="3401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5540" y="3401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{50,100,150} · </a:t>
            </a:r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{0.05, 0.1} · </a:t>
            </a:r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{15, 31}</a:t>
            </a:r>
          </a:p>
        </p:txBody>
      </p:sp>
      <p:sp>
        <p:nvSpPr>
          <p:cNvPr id="29" name="Shape 27"/>
          <p:cNvSpPr/>
          <p:nvPr/>
        </p:nvSpPr>
        <p:spPr>
          <a:xfrm>
            <a:off x="4625340" y="3657600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698492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2554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 · </a:t>
            </a:r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0.1 · </a:t>
            </a:r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31</a:t>
            </a:r>
          </a:p>
        </p:txBody>
      </p:sp>
      <p:sp>
        <p:nvSpPr>
          <p:cNvPr id="32" name="Shape 30"/>
          <p:cNvSpPr/>
          <p:nvPr/>
        </p:nvSpPr>
        <p:spPr>
          <a:xfrm>
            <a:off x="4625340" y="3959352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698492" y="4005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25540" y="40050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test: </a:t>
            </a:r>
            <a:r>
              <a:rPr lang="en-US" sz="950" i="1" dirty="0" err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Linear SVM ·</a:t>
            </a:r>
          </a:p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χ²=20.32 · p=0.00001, α =0.05</a:t>
            </a:r>
          </a:p>
        </p:txBody>
      </p:sp>
      <p:pic>
        <p:nvPicPr>
          <p:cNvPr id="36" name="Picture 35" descr="A graph of a graph&#10;&#10;AI-generated content may be incorrect.">
            <a:extLst>
              <a:ext uri="{FF2B5EF4-FFF2-40B4-BE49-F238E27FC236}">
                <a16:creationId xmlns:a16="http://schemas.microsoft.com/office/drawing/2014/main" id="{C0C728E1-6959-9848-4A76-8AAEBA451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33" y="1706663"/>
            <a:ext cx="3990703" cy="23944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(Test Set)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6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600206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6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6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703326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97,6%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03326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06446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806446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806446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pic>
        <p:nvPicPr>
          <p:cNvPr id="27" name="Picture 26" descr="A blue and white graph&#10;&#10;AI-generated content may be incorrect.">
            <a:extLst>
              <a:ext uri="{FF2B5EF4-FFF2-40B4-BE49-F238E27FC236}">
                <a16:creationId xmlns:a16="http://schemas.microsoft.com/office/drawing/2014/main" id="{6BDA89F9-9C4D-3075-1F97-799E2877C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02" y="971256"/>
            <a:ext cx="2565088" cy="2565088"/>
          </a:xfrm>
          <a:prstGeom prst="rect">
            <a:avLst/>
          </a:prstGeom>
        </p:spPr>
      </p:pic>
      <p:pic>
        <p:nvPicPr>
          <p:cNvPr id="29" name="Picture 28" descr="A graph of a curve&#10;&#10;AI-generated content may be incorrect.">
            <a:extLst>
              <a:ext uri="{FF2B5EF4-FFF2-40B4-BE49-F238E27FC236}">
                <a16:creationId xmlns:a16="http://schemas.microsoft.com/office/drawing/2014/main" id="{44840C6A-6B53-E391-2768-9B4DFF4C2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832104"/>
            <a:ext cx="3349752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CRITICAL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work? · What did it get wrong and why?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directions · domain impact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Explainability: What Drives the Model Overall?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59"/>
            <a:ext cx="4069080" cy="293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it-IT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sample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feature value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= </a:t>
            </a:r>
            <a:r>
              <a:rPr lang="it-IT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Breitbart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pushes prediction toward Fake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it-IT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</a:t>
            </a:r>
            <a:r>
              <a:rPr lang="it-IT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</a:t>
            </a:r>
            <a:r>
              <a:rPr lang="it-IT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Real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meaningful source patterns (not noise)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learned distinction between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partisan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sources</a:t>
            </a:r>
          </a:p>
          <a:p>
            <a:pPr marL="628650" lvl="1" indent="-171450">
              <a:spcAft>
                <a:spcPts val="500"/>
              </a:spcAft>
              <a:buSzPct val="100000"/>
              <a:buFontTx/>
              <a:buChar char="-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(97.5%) suggests the model is learning meaningful signals</a:t>
            </a:r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118DBA7F-76DC-363D-3EF1-DC3D7872C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79" y="1170432"/>
            <a:ext cx="2996456" cy="3625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Explainability: Why This Specific Prediction?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730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Article from October 2016 mentioning "president-elect", "Hillary", and "2016" — political content from the US election period, ground truth: True News (correctly classified)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title_uppercase_ratio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(+4.06) dominates;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(value=0, +1.14) means the absence of this trusted token pushes toward real;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breitbart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presence drives toward fake as expected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Global alignment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top features here (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title_uppercase_ratio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breitbart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match the global SHAP ranking — consistent behavior across instances.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/>
              <a:t>Conclusion</a:t>
            </a:r>
            <a:r>
              <a:rPr lang="en-US" sz="1100" dirty="0"/>
              <a:t>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article with high capitalization, no press agency signature, and partisan political references make the model reasons correctly.</a:t>
            </a:r>
          </a:p>
        </p:txBody>
      </p:sp>
      <p:pic>
        <p:nvPicPr>
          <p:cNvPr id="6" name="Picture 5" descr="A graph of numbers and symbols&#10;&#10;AI-generated content may be incorrect.">
            <a:extLst>
              <a:ext uri="{FF2B5EF4-FFF2-40B4-BE49-F238E27FC236}">
                <a16:creationId xmlns:a16="http://schemas.microsoft.com/office/drawing/2014/main" id="{42D87BBB-DCC2-532E-BDC3-8AAA77228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1235745"/>
            <a:ext cx="3938451" cy="30671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Did the Model Get Wrong and Why?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03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FN (134): fake news mimicking legitimate reporting; FP (220): genuine opinion content penalized for aggressive style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model confounds writing style with factual content, stylometric proxies cannot capture semantic intent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61 (FP):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title_uppercase_ratio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absent push toward Real, but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york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pull back.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/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random: misclassifications cluster around the stylometric decision boundary, confirming a known architectural limit of TF-IDF pipelines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" y="3698749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78224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Verma</a:t>
            </a:r>
            <a:r>
              <a:rPr lang="it-IT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(2021) — the original WELFake paper — reports ~</a:t>
            </a:r>
            <a:r>
              <a:rPr lang="it-IT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accuracy </a:t>
            </a:r>
            <a:r>
              <a:rPr lang="it-IT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word embeddings combined with 20 hand-crafted linguistic features. Our LightGBM pipeline achieves </a:t>
            </a:r>
            <a:r>
              <a:rPr lang="it-IT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r>
              <a:rPr lang="it-IT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simpler approach: TF-IDF + only 5 stylometric features. We outperform the dataset authors' own benchmark while maintaining full interpretability via SHAP.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6" name="Picture 5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D858EDFB-439E-C53D-A86F-418870B2C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79" y="1065797"/>
            <a:ext cx="3292056" cy="26238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Impact, Limitations &amp; Future Directions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it-IT" sz="1050" dirty="0"/>
              <a:t>First-pass filter for content moderation, flags suspicious articles before publication or amplification.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Supports fact-checkers by prioritizing review queues, not replacing human judgment.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Balanced error rate (FP censors journalism; FN lets misinformation spread) makes it a decision-support tool, not a final arbiter.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SHAP explanations make predictions auditable, essential for human-facing moderation.</a:t>
            </a: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/>
              <a:t>WELFake</a:t>
            </a:r>
            <a:r>
              <a:rPr lang="en-US" sz="1050" dirty="0"/>
              <a:t> is English-only and US-politically skewed, generalization untested.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Static TF-IDF is vulnerable to concept drift; performance degrades without retraining.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The model detects stylistic proxies of deception, not factual truth.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Evaluated on a single dataset split, no real-world feedback loop.</a:t>
            </a: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877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Replace TF-IDF with contextual embeddings (BERT) for deeper semantic understanding.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Integrate fact-checking APIs to cross-reference claims against verified databases.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Extend to multimodal input (images + metadata) to catch deception beyond text.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/>
              <a:t>Deploy with human-in-the-loop feedback to measure calibration and detect drift.</a:t>
            </a: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automated binary classification of news articles to combat digital misinformation, using semantic and stylometric features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97.9% accuracy and F1, validated via Stratified 5-Fold CV and confirmed statistically superior to Linear SVM (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p=0.00016)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XAI finding: SHAP reveals the model learned journalistically meaningful signals, source tokens (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breitbart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sensationalist stylometry; not dataset artifacts, confirming genuine generalization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 &amp; next step: TF-IDF cannot distinguish writing style from factual content; future work should explore transformer-based architectures (BERT,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for deep contextual understanding</a:t>
            </a:r>
          </a:p>
        </p:txBody>
      </p:sp>
      <p:sp>
        <p:nvSpPr>
          <p:cNvPr id="6" name="Shape 4"/>
          <p:cNvSpPr/>
          <p:nvPr/>
        </p:nvSpPr>
        <p:spPr>
          <a:xfrm>
            <a:off x="411480" y="3938449"/>
            <a:ext cx="8321040" cy="13716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4108267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Alessio Grillo   ·   a.grillo6@studenti.unipi.it</a:t>
            </a:r>
          </a:p>
          <a:p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Giacomazzi   ·   a.giacomazzi1@studenti.unipi.it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1638</Words>
  <Application>Microsoft Office PowerPoint</Application>
  <PresentationFormat>On-screen Show (16:9)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&amp; Machine Learning — Project Presentation Template</dc:title>
  <dc:subject>PptxGenJS Presentation</dc:subject>
  <dc:creator>PptxGenJS</dc:creator>
  <cp:lastModifiedBy>Alessio Grillo</cp:lastModifiedBy>
  <cp:revision>19</cp:revision>
  <dcterms:created xsi:type="dcterms:W3CDTF">2026-05-31T14:27:00Z</dcterms:created>
  <dcterms:modified xsi:type="dcterms:W3CDTF">2026-06-11T12:08:19Z</dcterms:modified>
</cp:coreProperties>
</file>