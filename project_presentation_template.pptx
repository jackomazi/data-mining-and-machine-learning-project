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741" autoAdjust="0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55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35560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64008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50" dirty="0">
                <a:solidFill>
                  <a:srgbClr val="00B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MINING &amp; MACHINE LEARNING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10515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FakeNews</a:t>
            </a: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Detector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11480" y="21488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Mining &amp; Machine Learning Project </a:t>
            </a:r>
            <a:b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M.Sc. in Artificial Intelligence and Data Engineering — Academic Year 2025–2026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2606040"/>
            <a:ext cx="8321040" cy="18288"/>
          </a:xfrm>
          <a:prstGeom prst="rect">
            <a:avLst/>
          </a:prstGeom>
          <a:solidFill>
            <a:srgbClr val="2E4A70"/>
          </a:solidFill>
          <a:ln w="12700">
            <a:solidFill>
              <a:srgbClr val="2E4A7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411480" y="274320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Alessio Grillo — ID: 654947   |   Andrea Giacomazzi — ID: 720164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11480" y="312724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[DD/MM/YYYY]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OVERVIEW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122529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411480" y="1225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120700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Dataset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14400" y="145389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definition · features · EDA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76072" y="1609344"/>
            <a:ext cx="18288" cy="31089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411480" y="19568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41148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1938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&amp; Experiments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914400" y="218541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· model selection · hyperparameter optimization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38160" y="1993392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EEF2FA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8138160" y="199339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100" dirty="0">
                <a:solidFill>
                  <a:srgbClr val="1C2B4A"/>
                </a:solidFill>
              </a:rPr>
              <a:t>PART 1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576072" y="2340864"/>
            <a:ext cx="18288" cy="31089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411480" y="268833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411480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6700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Results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14400" y="291693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· cross-validation · final model performance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76072" y="3072384"/>
            <a:ext cx="18288" cy="31089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Shape 20"/>
          <p:cNvSpPr/>
          <p:nvPr/>
        </p:nvSpPr>
        <p:spPr>
          <a:xfrm>
            <a:off x="411480" y="341985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411480" y="3419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340156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14400" y="36484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&amp; local techniques · consistency with domain knowledge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138160" y="3456432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E0F5F4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8138160" y="34564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100" dirty="0">
                <a:solidFill>
                  <a:srgbClr val="008F84"/>
                </a:solidFill>
              </a:rPr>
              <a:t>PART 2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576072" y="3803904"/>
            <a:ext cx="18288" cy="31089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Shape 27"/>
          <p:cNvSpPr/>
          <p:nvPr/>
        </p:nvSpPr>
        <p:spPr>
          <a:xfrm>
            <a:off x="411480" y="415137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411480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14400" y="413308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Discussion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914400" y="437997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analysis · limitations · future directions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1371600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B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— TECHNICAL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Problem, Pipeline &amp; Results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11480" y="2788920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 · feature engineering · model selection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optimization · evaluation · test-set results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PROBLEM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 &amp; Dataset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12618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11480" y="1572768"/>
            <a:ext cx="4069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</a:t>
            </a: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article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predict whether it is credible or deceptive based on its text alone. 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type: binary classification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news spreads faster than anyone can fact-check it, shaping opinions on elections, health, and public trust. 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cannot check whether something is true facts, it can only detect stylistic and linguistic patterns. And the best fake articles are written to sound exactly like real ones.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115568"/>
            <a:ext cx="4069080" cy="2962656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4828032" y="1225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at a Glance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572768"/>
            <a:ext cx="4069080" cy="26517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2" name="Text 10"/>
          <p:cNvSpPr/>
          <p:nvPr/>
        </p:nvSpPr>
        <p:spPr>
          <a:xfrm>
            <a:off x="4736592" y="160934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035040" y="160934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1847088"/>
            <a:ext cx="406908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5" name="Text 13"/>
          <p:cNvSpPr/>
          <p:nvPr/>
        </p:nvSpPr>
        <p:spPr>
          <a:xfrm>
            <a:off x="4736592" y="188366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035040" y="188366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Kaggle, 72.134 samples, 3 features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63440" y="2121408"/>
            <a:ext cx="4069080" cy="26517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4736592" y="215798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035040" y="215798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veracity (0: Fake News, 1: Real News)</a:t>
            </a:r>
          </a:p>
        </p:txBody>
      </p:sp>
      <p:sp>
        <p:nvSpPr>
          <p:cNvPr id="20" name="Shape 18"/>
          <p:cNvSpPr/>
          <p:nvPr/>
        </p:nvSpPr>
        <p:spPr>
          <a:xfrm>
            <a:off x="4663440" y="2395728"/>
            <a:ext cx="406908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21" name="Text 19"/>
          <p:cNvSpPr/>
          <p:nvPr/>
        </p:nvSpPr>
        <p:spPr>
          <a:xfrm>
            <a:off x="4736592" y="243230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035040" y="243230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numerical, 2 textual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663440" y="2670048"/>
            <a:ext cx="4069080" cy="26517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4736592" y="270662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035040" y="270662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0,21% overall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63440" y="2944368"/>
            <a:ext cx="406908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4736592" y="298094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balance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035040" y="298094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51.5% / 48.5%  balanced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3218688"/>
            <a:ext cx="4069080" cy="26517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4736592" y="325526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035040" y="325526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Training / 20% Testing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663440" y="3493008"/>
            <a:ext cx="406908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1"/>
          <p:cNvSpPr/>
          <p:nvPr/>
        </p:nvSpPr>
        <p:spPr>
          <a:xfrm>
            <a:off x="4736592" y="352958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Metric(s)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035040" y="352958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Accuracy, F1-score, Precision</a:t>
            </a:r>
            <a:r>
              <a:rPr lang="en-US" sz="950" i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Recall, AUC-ROC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PROBLEM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11480" y="1897380"/>
            <a:ext cx="40690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A8FA6"/>
                </a:solidFill>
              </a:rPr>
              <a:t>[ YOUR FIGURE HERE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2672791"/>
            <a:ext cx="4069080" cy="775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7A8FA6"/>
                </a:solidFill>
              </a:rPr>
              <a:t>Feature distributions (histograms / box plots grouped by class or target)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11480" y="4345885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from EDA: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4624523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/>
              <a:t>Stylometric features</a:t>
            </a:r>
            <a:r>
              <a:rPr lang="en-US" sz="1000" dirty="0"/>
              <a:t> (text length, exclamation/uppercase ratios, spelling errors) show heavily overlapping distributions across classes.</a:t>
            </a:r>
          </a:p>
          <a:p>
            <a:pPr marL="0" indent="0">
              <a:buNone/>
            </a:pPr>
            <a:r>
              <a:rPr lang="en-US" sz="1000" b="1" dirty="0"/>
              <a:t>N-gram </a:t>
            </a:r>
            <a:r>
              <a:rPr lang="en-US" sz="1000" dirty="0"/>
              <a:t>analysis reveals largely overlapping vocabularies between classes, shared terms like </a:t>
            </a:r>
            <a:r>
              <a:rPr lang="en-US" sz="1000" i="1" dirty="0"/>
              <a:t>trump</a:t>
            </a:r>
            <a:r>
              <a:rPr lang="en-US" sz="1000" dirty="0"/>
              <a:t>, </a:t>
            </a:r>
            <a:r>
              <a:rPr lang="en-US" sz="1000" i="1" dirty="0" err="1"/>
              <a:t>clinton</a:t>
            </a:r>
            <a:r>
              <a:rPr lang="en-US" sz="1000" dirty="0"/>
              <a:t>, and </a:t>
            </a:r>
            <a:r>
              <a:rPr lang="en-US" sz="1000" i="1" dirty="0"/>
              <a:t>united states</a:t>
            </a:r>
            <a:r>
              <a:rPr lang="en-US" sz="1000" dirty="0"/>
              <a:t> dominate both</a:t>
            </a:r>
            <a:endParaRPr lang="en-US" sz="950" dirty="0"/>
          </a:p>
        </p:txBody>
      </p:sp>
      <p:pic>
        <p:nvPicPr>
          <p:cNvPr id="22" name="Picture 21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7FC6164B-906C-C990-0470-C6D09DDDCA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3" y="1286307"/>
            <a:ext cx="5000461" cy="2649673"/>
          </a:xfrm>
          <a:prstGeom prst="rect">
            <a:avLst/>
          </a:prstGeom>
        </p:spPr>
      </p:pic>
      <p:pic>
        <p:nvPicPr>
          <p:cNvPr id="8" name="Picture 7" descr="A screenshot of a graph&#10;&#10;AI-generated content may be incorrect.">
            <a:extLst>
              <a:ext uri="{FF2B5EF4-FFF2-40B4-BE49-F238E27FC236}">
                <a16:creationId xmlns:a16="http://schemas.microsoft.com/office/drawing/2014/main" id="{98053734-F748-540B-5315-B958720CD4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1327" y="1045372"/>
            <a:ext cx="3974180" cy="294939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PIPELINE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Selection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41148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2651760" cy="13716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2120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stylometric features: uppercase ratio, word count, spelling error rate, exclamation &amp; question mark density.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MinMax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scaling on the 5 stylometric features to align their magnitude with the sparse TF-IDF matrix. 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TF-IDF features from concatenated title + body (unigrams &amp; bigrams).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titles (558) → empty string. </a:t>
            </a:r>
            <a:b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bodies (39) → removed.</a:t>
            </a:r>
          </a:p>
        </p:txBody>
      </p:sp>
      <p:sp>
        <p:nvSpPr>
          <p:cNvPr id="10" name="Shape 8"/>
          <p:cNvSpPr/>
          <p:nvPr/>
        </p:nvSpPr>
        <p:spPr>
          <a:xfrm>
            <a:off x="324612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Shape 9"/>
          <p:cNvSpPr/>
          <p:nvPr/>
        </p:nvSpPr>
        <p:spPr>
          <a:xfrm>
            <a:off x="324612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3246120" y="1417320"/>
            <a:ext cx="2651760" cy="137160"/>
          </a:xfrm>
          <a:prstGeom prst="rect">
            <a:avLst/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335584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Method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383280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method: Bigrams and unigrams.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capped at top 10,000 tokens, validated within 5-fold CV.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10,005 features total. No dimensionality reduction, tree-based models handle sparse high-dimensional input natively.</a:t>
            </a:r>
          </a:p>
        </p:txBody>
      </p:sp>
      <p:sp>
        <p:nvSpPr>
          <p:cNvPr id="15" name="Shape 13"/>
          <p:cNvSpPr/>
          <p:nvPr/>
        </p:nvSpPr>
        <p:spPr>
          <a:xfrm>
            <a:off x="608076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608076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6080760" y="1417320"/>
            <a:ext cx="2651760" cy="137160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619048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Features?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17920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captures vocabulary shifts and source-mimicking artifacts confirmed by EDA.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Stylometric features target sensationalism signals that differ significantly between classes.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Discarded: serial number, dataset-specific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stopwords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(“twitter com", "featured image"), artifacts, not generalizable.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PIPELINE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Pipeline: Avoiding Data Leakage &amp; Bias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4A6587"/>
          </a:solidFill>
          <a:ln w="12700">
            <a:solidFill>
              <a:srgbClr val="4A6587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365760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627632" y="1545336"/>
            <a:ext cx="173736" cy="73152"/>
          </a:xfrm>
          <a:prstGeom prst="rect">
            <a:avLst/>
          </a:prstGeom>
          <a:solidFill>
            <a:srgbClr val="7A8FA6"/>
          </a:solidFill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1700784" y="1472184"/>
            <a:ext cx="164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</a:rPr>
              <a:t>▶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801368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0" name="Text 8"/>
          <p:cNvSpPr/>
          <p:nvPr/>
        </p:nvSpPr>
        <p:spPr>
          <a:xfrm>
            <a:off x="1801368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63240" y="1545336"/>
            <a:ext cx="173736" cy="73152"/>
          </a:xfrm>
          <a:prstGeom prst="rect">
            <a:avLst/>
          </a:prstGeom>
          <a:solidFill>
            <a:srgbClr val="7A8FA6"/>
          </a:solidFill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3136392" y="1472184"/>
            <a:ext cx="164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</a:rPr>
              <a:t>▶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36976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3236976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498848" y="1545336"/>
            <a:ext cx="173736" cy="73152"/>
          </a:xfrm>
          <a:prstGeom prst="rect">
            <a:avLst/>
          </a:prstGeom>
          <a:solidFill>
            <a:srgbClr val="7A8FA6"/>
          </a:solidFill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4572000" y="1472184"/>
            <a:ext cx="164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</a:rPr>
              <a:t>▶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72584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4672584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34456" y="1545336"/>
            <a:ext cx="173736" cy="73152"/>
          </a:xfrm>
          <a:prstGeom prst="rect">
            <a:avLst/>
          </a:prstGeom>
          <a:solidFill>
            <a:srgbClr val="7A8FA6"/>
          </a:solidFill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6007608" y="1472184"/>
            <a:ext cx="164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</a:rPr>
              <a:t>▶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108192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6108192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(held-out fold)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370064" y="1545336"/>
            <a:ext cx="173736" cy="73152"/>
          </a:xfrm>
          <a:prstGeom prst="rect">
            <a:avLst/>
          </a:prstGeom>
          <a:solidFill>
            <a:srgbClr val="7A8FA6"/>
          </a:solidFill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7443216" y="1472184"/>
            <a:ext cx="164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</a:rPr>
              <a:t>▶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543800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7543800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1480" y="2121408"/>
            <a:ext cx="26517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8" name="Text 26"/>
          <p:cNvSpPr/>
          <p:nvPr/>
        </p:nvSpPr>
        <p:spPr>
          <a:xfrm>
            <a:off x="539496" y="2231136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Leakage Prevention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39496" y="2578608"/>
            <a:ext cx="239572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preprocessing steps (TF-IDF,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MinMax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scaler,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stopword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removal) wrapped in a Scikit-Learn Pipeline,  fitted exclusively on training folds.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Train/test split performed before any transformation. Test folds only ever see frozen parameters.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test set distribution ever influences the vocabulary, scaling bounds, or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stopword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list.</a:t>
            </a:r>
          </a:p>
        </p:txBody>
      </p:sp>
      <p:sp>
        <p:nvSpPr>
          <p:cNvPr id="30" name="Shape 28"/>
          <p:cNvSpPr/>
          <p:nvPr/>
        </p:nvSpPr>
        <p:spPr>
          <a:xfrm>
            <a:off x="3246120" y="2121408"/>
            <a:ext cx="26517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1" name="Text 29"/>
          <p:cNvSpPr/>
          <p:nvPr/>
        </p:nvSpPr>
        <p:spPr>
          <a:xfrm>
            <a:off x="3374136" y="2231136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 Handling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374136" y="2578608"/>
            <a:ext cx="239572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balancing technique applied. The dataset is naturally balanced (51.5% fake / 48.5% real), so SMOTE and class weights were unnecessary.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5-fold CV preserves the natural class ratio across every split, ensuring stable and comparable metrics throughout.</a:t>
            </a:r>
          </a:p>
        </p:txBody>
      </p:sp>
      <p:sp>
        <p:nvSpPr>
          <p:cNvPr id="33" name="Shape 31"/>
          <p:cNvSpPr/>
          <p:nvPr/>
        </p:nvSpPr>
        <p:spPr>
          <a:xfrm>
            <a:off x="6080760" y="2121408"/>
            <a:ext cx="26517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4" name="Text 32"/>
          <p:cNvSpPr/>
          <p:nvPr/>
        </p:nvSpPr>
        <p:spPr>
          <a:xfrm>
            <a:off x="6208776" y="2231136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Justification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08776" y="2578608"/>
            <a:ext cx="247802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 &amp; Accuracy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 Balanced classes make accuracy meaningful; F1 jointly captures precision and recall.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 = real news flagged as fake → censorship. FN = fake news classified as real → misinformation spreads. Both errors are costly — neither dominates.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 reported as secondary metric to assess discriminative power across all decision thresholds.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PIPELINE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Selection &amp; Hyperparameter Optimization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625340" y="150876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Decisions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25340" y="1783080"/>
            <a:ext cx="4069080" cy="347472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2" name="Text 10"/>
          <p:cNvSpPr/>
          <p:nvPr/>
        </p:nvSpPr>
        <p:spPr>
          <a:xfrm>
            <a:off x="4698492" y="1860153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models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225540" y="187248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baseline (LR, NB, SVM) + ensemble (RF, AdaBoost, </a:t>
            </a:r>
            <a:r>
              <a:rPr lang="en-US" sz="80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r>
              <a:rPr lang="en-US" sz="80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 covering linear, probabilistic, geometric and boosting families</a:t>
            </a:r>
          </a:p>
        </p:txBody>
      </p:sp>
      <p:sp>
        <p:nvSpPr>
          <p:cNvPr id="14" name="Shape 12"/>
          <p:cNvSpPr/>
          <p:nvPr/>
        </p:nvSpPr>
        <p:spPr>
          <a:xfrm>
            <a:off x="4625340" y="2148840"/>
            <a:ext cx="40690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4698492" y="219456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strategy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25540" y="219456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5-fold CV for all models</a:t>
            </a:r>
            <a:endParaRPr lang="en-US" sz="950" i="1" dirty="0">
              <a:solidFill>
                <a:srgbClr val="4A658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625340" y="2450592"/>
            <a:ext cx="4069080" cy="283464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4698492" y="249631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criterion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225540" y="249631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25340" y="2752344"/>
            <a:ext cx="40690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4698492" y="279806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model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225540" y="279806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highest CV accuracy (0.978) with lowest variance</a:t>
            </a:r>
          </a:p>
        </p:txBody>
      </p:sp>
      <p:sp>
        <p:nvSpPr>
          <p:cNvPr id="23" name="Shape 21"/>
          <p:cNvSpPr/>
          <p:nvPr/>
        </p:nvSpPr>
        <p:spPr>
          <a:xfrm>
            <a:off x="4625340" y="3054096"/>
            <a:ext cx="4069080" cy="283464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4698492" y="30998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strategy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225540" y="309981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Search (5 combinations x model)</a:t>
            </a:r>
          </a:p>
        </p:txBody>
      </p:sp>
      <p:sp>
        <p:nvSpPr>
          <p:cNvPr id="26" name="Shape 24"/>
          <p:cNvSpPr/>
          <p:nvPr/>
        </p:nvSpPr>
        <p:spPr>
          <a:xfrm>
            <a:off x="4625340" y="3355848"/>
            <a:ext cx="40690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4698492" y="340156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space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25540" y="340156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{50,100,150} · </a:t>
            </a: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learning_rate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{0.05, 0.1} · </a:t>
            </a: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num_leaves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{15, 31}</a:t>
            </a:r>
          </a:p>
        </p:txBody>
      </p:sp>
      <p:sp>
        <p:nvSpPr>
          <p:cNvPr id="29" name="Shape 27"/>
          <p:cNvSpPr/>
          <p:nvPr/>
        </p:nvSpPr>
        <p:spPr>
          <a:xfrm>
            <a:off x="4625340" y="3657600"/>
            <a:ext cx="4069080" cy="283464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4698492" y="370332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config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225540" y="37033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100 · </a:t>
            </a: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learning_rate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0.1 · </a:t>
            </a: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num_leaves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31</a:t>
            </a:r>
          </a:p>
        </p:txBody>
      </p:sp>
      <p:sp>
        <p:nvSpPr>
          <p:cNvPr id="32" name="Shape 30"/>
          <p:cNvSpPr/>
          <p:nvPr/>
        </p:nvSpPr>
        <p:spPr>
          <a:xfrm>
            <a:off x="4625340" y="3959352"/>
            <a:ext cx="40690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1"/>
          <p:cNvSpPr/>
          <p:nvPr/>
        </p:nvSpPr>
        <p:spPr>
          <a:xfrm>
            <a:off x="4698492" y="40050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test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225540" y="40050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McNemar's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test vs Linear SVM · χ²=20.32 · p=0.00001</a:t>
            </a:r>
          </a:p>
        </p:txBody>
      </p:sp>
      <p:pic>
        <p:nvPicPr>
          <p:cNvPr id="36" name="Picture 35" descr="A graph of a graph&#10;&#10;AI-generated content may be incorrect.">
            <a:extLst>
              <a:ext uri="{FF2B5EF4-FFF2-40B4-BE49-F238E27FC236}">
                <a16:creationId xmlns:a16="http://schemas.microsoft.com/office/drawing/2014/main" id="{C0C728E1-6959-9848-4A76-8AAEBA4515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33" y="1706663"/>
            <a:ext cx="3990703" cy="239442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RESULTS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Test-Set Results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11480" y="37033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Metrics (Test Set)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1480" y="4005072"/>
            <a:ext cx="1938528" cy="877824"/>
          </a:xfrm>
          <a:prstGeom prst="roundRect">
            <a:avLst>
              <a:gd name="adj" fmla="val 10417"/>
            </a:avLst>
          </a:prstGeom>
          <a:solidFill>
            <a:srgbClr val="F0F4FA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411480" y="4078224"/>
            <a:ext cx="19385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97,5%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11480" y="4535424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514600" y="4005072"/>
            <a:ext cx="1938528" cy="877824"/>
          </a:xfrm>
          <a:prstGeom prst="roundRect">
            <a:avLst>
              <a:gd name="adj" fmla="val 10417"/>
            </a:avLst>
          </a:prstGeom>
          <a:solidFill>
            <a:srgbClr val="F0F4FA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2514600" y="4078224"/>
            <a:ext cx="19385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97,6%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2514600" y="4535424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17720" y="4005072"/>
            <a:ext cx="1938528" cy="877824"/>
          </a:xfrm>
          <a:prstGeom prst="roundRect">
            <a:avLst>
              <a:gd name="adj" fmla="val 10417"/>
            </a:avLst>
          </a:prstGeom>
          <a:solidFill>
            <a:srgbClr val="F0F4FA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4617720" y="4078224"/>
            <a:ext cx="19385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0,997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4617720" y="4535424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720840" y="4005072"/>
            <a:ext cx="1938528" cy="877824"/>
          </a:xfrm>
          <a:prstGeom prst="roundRect">
            <a:avLst>
              <a:gd name="adj" fmla="val 10417"/>
            </a:avLst>
          </a:prstGeom>
          <a:solidFill>
            <a:srgbClr val="F0F4FA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6720840" y="4078224"/>
            <a:ext cx="19385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96,4%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720840" y="4535424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SVM</a:t>
            </a:r>
            <a:endParaRPr lang="en-US" sz="900" dirty="0"/>
          </a:p>
        </p:txBody>
      </p:sp>
      <p:pic>
        <p:nvPicPr>
          <p:cNvPr id="27" name="Picture 26" descr="A blue and white graph&#10;&#10;AI-generated content may be incorrect.">
            <a:extLst>
              <a:ext uri="{FF2B5EF4-FFF2-40B4-BE49-F238E27FC236}">
                <a16:creationId xmlns:a16="http://schemas.microsoft.com/office/drawing/2014/main" id="{6BDA89F9-9C4D-3075-1F97-799E2877CF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402" y="971256"/>
            <a:ext cx="2565088" cy="2565088"/>
          </a:xfrm>
          <a:prstGeom prst="rect">
            <a:avLst/>
          </a:prstGeom>
        </p:spPr>
      </p:pic>
      <p:pic>
        <p:nvPicPr>
          <p:cNvPr id="29" name="Picture 28" descr="A graph of a curve&#10;&#10;AI-generated content may be incorrect.">
            <a:extLst>
              <a:ext uri="{FF2B5EF4-FFF2-40B4-BE49-F238E27FC236}">
                <a16:creationId xmlns:a16="http://schemas.microsoft.com/office/drawing/2014/main" id="{44840C6A-6B53-E391-2768-9B4DFF4C2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6028" y="832104"/>
            <a:ext cx="3349752" cy="28712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1371600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B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— CRITICAL ANALYSIS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8321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&amp;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Discussion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11480" y="30175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model work? · What did it get wrong and why?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· future directions · domain impact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EXPLAINABILITY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Explainability: What Drives the Model Overall?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663440" y="11704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63440" y="1508759"/>
            <a:ext cx="4069080" cy="2939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</a:t>
            </a:r>
            <a:r>
              <a:rPr lang="en-US" sz="11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beeswarm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it-IT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r>
              <a:rPr lang="it-IT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dot = one sample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= feature value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X-axis = </a:t>
            </a:r>
            <a:r>
              <a:rPr lang="it-IT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impact</a:t>
            </a:r>
            <a:endParaRPr lang="en-US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signals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of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Breitbart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-&gt; pushes prediction toward Fake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it-IT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</a:t>
            </a:r>
            <a:r>
              <a:rPr lang="it-IT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-&gt; </a:t>
            </a:r>
            <a:r>
              <a:rPr lang="it-IT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with Real</a:t>
            </a:r>
            <a:endParaRPr lang="en-US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uses meaningful source patterns (not noise)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Suggests learned distinction between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partisan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sources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accuracy (97.5%) suggests the model is learning meaningful signals</a:t>
            </a:r>
          </a:p>
        </p:txBody>
      </p:sp>
      <p:pic>
        <p:nvPicPr>
          <p:cNvPr id="6" name="Picture 5" descr="A screen shot of a graph&#10;&#10;AI-generated content may be incorrect.">
            <a:extLst>
              <a:ext uri="{FF2B5EF4-FFF2-40B4-BE49-F238E27FC236}">
                <a16:creationId xmlns:a16="http://schemas.microsoft.com/office/drawing/2014/main" id="{118DBA7F-76DC-363D-3EF1-DC3D7872CA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979" y="1170432"/>
            <a:ext cx="2996456" cy="362559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EXPLAINABILITY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Explainability: Why This Specific Prediction?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663440" y="11704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Analysis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63440" y="1508760"/>
            <a:ext cx="4069080" cy="2730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Article from October 2016 mentioning "president-elect", "Hillary", and "2016" — political content from the US election period, ground truth: True News (correctly classified)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drivers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title_uppercase_ratio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(+4.06) dominates;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 (value=0, +1.14) means the absence of this trusted token pushes toward real;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breitbart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presence drives toward fake as expected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&amp; Global alignment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top features here (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title_uppercase_ratio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breitbart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match the global SHAP ranking — consistent behavior across instances.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/>
              <a:t>Conclusion</a:t>
            </a:r>
            <a:r>
              <a:rPr lang="en-US" sz="1100" dirty="0"/>
              <a:t>: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article with high capitalization, no press agency signature, and partisan political references make the model reasons correctly.</a:t>
            </a:r>
          </a:p>
        </p:txBody>
      </p:sp>
      <p:pic>
        <p:nvPicPr>
          <p:cNvPr id="6" name="Picture 5" descr="A graph of numbers and symbols&#10;&#10;AI-generated content may be incorrect.">
            <a:extLst>
              <a:ext uri="{FF2B5EF4-FFF2-40B4-BE49-F238E27FC236}">
                <a16:creationId xmlns:a16="http://schemas.microsoft.com/office/drawing/2014/main" id="{42D87BBB-DCC2-532E-BDC3-8AAA77228F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79" y="1235745"/>
            <a:ext cx="3938451" cy="306719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CRITICAL DISCUSSION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Analysis: What Did the Model Get Wrong and Why?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663440" y="11704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Reverse-Engineering Errors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63440" y="1508760"/>
            <a:ext cx="4069080" cy="2031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failure modes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FN (134): fake news mimicking legitimate reporting; FP (220): genuine opinion content penalized for aggressive style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model confounds writing style with factual content, stylometric proxies cannot capture semantic intent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61 (FP):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title_uppercase_ratio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absent push toward Real, but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york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pull back.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/>
              <a:t>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are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random: misclassifications cluster around the stylometric decision boundary, confirming a known architectural limit of TF-IDF pipelines</a:t>
            </a:r>
          </a:p>
        </p:txBody>
      </p:sp>
      <p:sp>
        <p:nvSpPr>
          <p:cNvPr id="10" name="Shape 8"/>
          <p:cNvSpPr/>
          <p:nvPr/>
        </p:nvSpPr>
        <p:spPr>
          <a:xfrm>
            <a:off x="411480" y="3698749"/>
            <a:ext cx="832104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594360" y="3794760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with Prior Work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4078224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Verma</a:t>
            </a:r>
            <a:r>
              <a:rPr lang="it-IT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al. (2021) — the original WELFake paper — reports ~</a:t>
            </a:r>
            <a:r>
              <a:rPr lang="it-IT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accuracy </a:t>
            </a:r>
            <a:r>
              <a:rPr lang="it-IT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word embeddings combined with 20 hand-crafted linguistic features. Our LightGBM pipeline achieves </a:t>
            </a:r>
            <a:r>
              <a:rPr lang="it-IT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97.9%</a:t>
            </a:r>
            <a:r>
              <a:rPr lang="it-IT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simpler approach: TF-IDF + only 5 stylometric features. We outperform the dataset authors' own benchmark while maintaining full interpretability via SHAP.</a:t>
            </a:r>
            <a:endParaRPr lang="en-US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6" name="Picture 5" descr="A graph with red and blue squares&#10;&#10;AI-generated content may be incorrect.">
            <a:extLst>
              <a:ext uri="{FF2B5EF4-FFF2-40B4-BE49-F238E27FC236}">
                <a16:creationId xmlns:a16="http://schemas.microsoft.com/office/drawing/2014/main" id="{D858EDFB-439E-C53D-A86F-418870B2C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179" y="1065797"/>
            <a:ext cx="3292056" cy="262380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CRITICAL DISCUSSION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Impact, Limitations &amp; Future Directions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41148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2651760" cy="137160"/>
          </a:xfrm>
          <a:prstGeom prst="rect">
            <a:avLst/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2120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Impact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39496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it-IT" sz="1050" dirty="0"/>
              <a:t>First-pass filter for content moderation, flags suspicious articles before publication or amplification.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Supports fact-checkers by prioritizing review queues, not replacing human judgment.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Balanced error rate (FP censors journalism; FN lets misinformation spread) makes it a decision-support tool, not a final arbiter.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SHAP explanations make predictions auditable, essential for human-facing moderation.</a:t>
            </a:r>
            <a:endParaRPr lang="en-US" sz="105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24612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Shape 9"/>
          <p:cNvSpPr/>
          <p:nvPr/>
        </p:nvSpPr>
        <p:spPr>
          <a:xfrm>
            <a:off x="324612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3246120" y="1417320"/>
            <a:ext cx="2651760" cy="1371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335584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374136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 err="1"/>
              <a:t>WELFake</a:t>
            </a:r>
            <a:r>
              <a:rPr lang="en-US" sz="1050" dirty="0"/>
              <a:t> is English-only and US-politically skewed, generalization untested.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Static TF-IDF is vulnerable to concept drift; performance degrades without retraining.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The model detects stylistic proxies of deception, not factual truth.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Evaluated on a single dataset split, no real-world feedback loop.</a:t>
            </a:r>
            <a:endParaRPr lang="en-US" sz="105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08076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608076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6080760" y="1417320"/>
            <a:ext cx="2651760" cy="137160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619048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Directions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08776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Replace TF-IDF with contextual embeddings (BERT) for deeper semantic understanding.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Integrate fact-checking APIs to cross-reference claims against verified databases.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Extend to multimodal input (images + metadata) to catch deception beyond text.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Deploy with human-in-the-loop feedback to measure calibration and detect drift.</a:t>
            </a:r>
            <a:endParaRPr lang="en-US" sz="105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B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Conclusions: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11480" y="2148840"/>
            <a:ext cx="8321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automated binary classification of news articles to combat digital misinformation, using semantic and stylometric features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model: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97.9% accuracy and F1, validated via Stratified 5-Fold CV and confirmed statistically superior to Linear SVM (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McNemar's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p=0.00016)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XAI finding: SHAP reveals the model learned journalistically meaningful signals, source tokens (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breitbart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and sensationalist stylometry; not dataset artifacts, confirming genuine generalization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limitation &amp; next step: TF-IDF cannot distinguish writing style from factual content; future work should explore transformer-based architectures (BERT,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RoBERTa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for deep contextual understanding</a:t>
            </a:r>
          </a:p>
        </p:txBody>
      </p:sp>
      <p:sp>
        <p:nvSpPr>
          <p:cNvPr id="6" name="Shape 4"/>
          <p:cNvSpPr/>
          <p:nvPr/>
        </p:nvSpPr>
        <p:spPr>
          <a:xfrm>
            <a:off x="411480" y="3938449"/>
            <a:ext cx="8321040" cy="13716"/>
          </a:xfrm>
          <a:prstGeom prst="rect">
            <a:avLst/>
          </a:prstGeom>
          <a:solidFill>
            <a:srgbClr val="2E4A70"/>
          </a:solidFill>
          <a:ln w="12700">
            <a:solidFill>
              <a:srgbClr val="2E4A7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411480" y="4108267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Alessio Grillo   ·   a.grillo6@studenti.unipi.it</a:t>
            </a:r>
          </a:p>
          <a:p>
            <a:r>
              <a:rPr lang="en-US" sz="1050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Giacomazzi   ·   a.giacomazzi1@studenti.unipi.it</a:t>
            </a:r>
          </a:p>
        </p:txBody>
      </p:sp>
      <p:sp>
        <p:nvSpPr>
          <p:cNvPr id="8" name="Text 6"/>
          <p:cNvSpPr/>
          <p:nvPr/>
        </p:nvSpPr>
        <p:spPr>
          <a:xfrm>
            <a:off x="411480" y="416052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3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862</TotalTime>
  <Words>1609</Words>
  <Application>Microsoft Office PowerPoint</Application>
  <PresentationFormat>On-screen Show (16:9)</PresentationFormat>
  <Paragraphs>208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Mining &amp; Machine Learning — Project Presentation Template</dc:title>
  <dc:subject>PptxGenJS Presentation</dc:subject>
  <dc:creator>PptxGenJS</dc:creator>
  <cp:lastModifiedBy>Andrea Giacomazzi</cp:lastModifiedBy>
  <cp:revision>18</cp:revision>
  <dcterms:created xsi:type="dcterms:W3CDTF">2026-05-31T14:27:00Z</dcterms:created>
  <dcterms:modified xsi:type="dcterms:W3CDTF">2026-06-10T15:53:37Z</dcterms:modified>
</cp:coreProperties>
</file>