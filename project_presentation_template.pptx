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41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55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3556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5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10515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FakeNews</a:t>
            </a: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Detector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Project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in Artificial Intelligence and Data Engineering — Academic Year 2025–2026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8321040" cy="18288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274320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Alessio Grillo — ID: 654947   |   Andrea Giacomazzi — ID: 720164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11480" y="312724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[DD/MM/YYYY]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4114800"/>
            <a:ext cx="8321040" cy="685800"/>
          </a:xfrm>
          <a:prstGeom prst="roundRect">
            <a:avLst>
              <a:gd name="adj" fmla="val 10667"/>
            </a:avLst>
          </a:prstGeom>
          <a:solidFill>
            <a:srgbClr val="243756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594360" y="41788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time: 10 minutes.   The slide structure is a template — adapt it to your project, but make sure all key aspects are covered: problem, pipeline, experiments, results, and critical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TEMPLATE GUIDE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Template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FFFBEB"/>
          </a:solidFill>
          <a:ln w="1905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Delete this slide before presenting. The blue boxes on each slide are instructions — remove them too.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template suggests a structure for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10-minute project presentation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the number of slides and their content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specific project: not every section needs the same amount of space.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all [ placeholder ] text with your actual content.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figure placeholder boxes with your actual charts and plots.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92024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presentation has two parts: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part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(pipeline, experiments, results) and a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part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(discussion, explainability, limitations, future work).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read the slides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them as anchors for a spoken narrative. The text is in the report! The presentation should be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</a:t>
            </a:r>
            <a:r>
              <a:rPr lang="en-US" sz="1100" b="1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engaging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clarity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completeness: one key message per slide.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18288" cy="28346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22529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2070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14538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definition · features · EDA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6072" y="160934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11480" y="19568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938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Experiments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21854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· model selection · hyperparameter optimization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99339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EF2FA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8138160" y="19933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1C2B4A"/>
                </a:solidFill>
              </a:rPr>
              <a:t>PART 1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76072" y="234086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411480" y="26883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1148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291693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cross-validation · final model performance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76072" y="307238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1148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4015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&amp; local techniques · consistency with domain knowledge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38160" y="3456432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E0F5F4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8138160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100" dirty="0">
                <a:solidFill>
                  <a:srgbClr val="008F84"/>
                </a:solidFill>
              </a:rPr>
              <a:t>PART 2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803904"/>
            <a:ext cx="18288" cy="31089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9" name="Shape 27"/>
          <p:cNvSpPr/>
          <p:nvPr/>
        </p:nvSpPr>
        <p:spPr>
          <a:xfrm>
            <a:off x="411480" y="41513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1148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41330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14400" y="43799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· limitations · future directions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TECHNICAL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Pipeline &amp; Results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27889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· feature engineering · model selection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optimization · evaluation · test-set results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&amp; Dataset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1480" y="11704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481328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article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predict whether it is credible or deceptive based on its text alone.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type: binary classification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spreads faster than anyone can fact-check it, shaping opinions on elections, health, and public trust. 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cannot check whether something is true facts, it can only detect stylistic and linguistic patterns. And the best fake articles are written to sound exactly like real ones.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3456432"/>
            <a:ext cx="4069080" cy="621792"/>
          </a:xfrm>
          <a:prstGeom prst="roundRect">
            <a:avLst>
              <a:gd name="adj" fmla="val 11765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39496" y="3529584"/>
            <a:ext cx="3813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sentences per bullet. Focus on what makes this problem interesting and non-trivial. Do not describe your solution yet.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15568"/>
            <a:ext cx="4069080" cy="2962656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828032" y="1225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2" name="Text 10"/>
          <p:cNvSpPr/>
          <p:nvPr/>
        </p:nvSpPr>
        <p:spPr>
          <a:xfrm>
            <a:off x="4736592" y="16093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16093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4708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5" name="Text 13"/>
          <p:cNvSpPr/>
          <p:nvPr/>
        </p:nvSpPr>
        <p:spPr>
          <a:xfrm>
            <a:off x="4736592" y="18836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18836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72.134 samples, 3 features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12140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35040" y="21579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veracity (0: Fake News, 1: Real News)</a:t>
            </a:r>
          </a:p>
        </p:txBody>
      </p:sp>
      <p:sp>
        <p:nvSpPr>
          <p:cNvPr id="20" name="Shape 18"/>
          <p:cNvSpPr/>
          <p:nvPr/>
        </p:nvSpPr>
        <p:spPr>
          <a:xfrm>
            <a:off x="4663440" y="239572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1" name="Text 19"/>
          <p:cNvSpPr/>
          <p:nvPr/>
        </p:nvSpPr>
        <p:spPr>
          <a:xfrm>
            <a:off x="4736592" y="24323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243230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numerical, 2 textual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67004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066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27066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0,21% overall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294436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2980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035040" y="298094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51.5% / 48.5% — balanced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218688"/>
            <a:ext cx="4069080" cy="265176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035040" y="325526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Training / 20% Testing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493008"/>
            <a:ext cx="406908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52958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Metric(s)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352958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F1-score, Precision</a:t>
            </a:r>
            <a:r>
              <a:rPr lang="en-US" sz="950" i="1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Recall, AUC-ROC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PROBLEM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Feature distributions (histograms / box plots grouped by class or target)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66344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Correlation heatmap or scatter matrix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6755" y="4213937"/>
            <a:ext cx="8321040" cy="713232"/>
          </a:xfrm>
          <a:prstGeom prst="roundRect">
            <a:avLst>
              <a:gd name="adj" fmla="val 10256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6755" y="4085921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the most informative findings: class imbalance, notable correlations, missing-value patterns (report % overall and per class). These observations should motivate your preprocessing choices in the next slide.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4480560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EDA: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7091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[Summarize 2–3 key observations in one sentence each — e.g., class imbalance ratio, most correlated features, missing-value distribution]</a:t>
            </a:r>
            <a:endParaRPr lang="en-US" sz="950" dirty="0"/>
          </a:p>
        </p:txBody>
      </p:sp>
      <p:pic>
        <p:nvPicPr>
          <p:cNvPr id="16" name="Picture 15" descr="A diagram of a heatmap&#10;&#10;AI-generated content may be incorrect.">
            <a:extLst>
              <a:ext uri="{FF2B5EF4-FFF2-40B4-BE49-F238E27FC236}">
                <a16:creationId xmlns:a16="http://schemas.microsoft.com/office/drawing/2014/main" id="{345894B8-56C9-A952-CB03-69BA066AF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534" y="866198"/>
            <a:ext cx="3908866" cy="3462810"/>
          </a:xfrm>
          <a:prstGeom prst="rect">
            <a:avLst/>
          </a:prstGeom>
        </p:spPr>
      </p:pic>
      <p:pic>
        <p:nvPicPr>
          <p:cNvPr id="22" name="Picture 2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FC6164B-906C-C990-0470-C6D09DDDCA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" y="1286307"/>
            <a:ext cx="5000461" cy="26496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Selection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stylometric features: uppercase ratio, word count, spelling error rate, exclamation &amp; question mark density.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scaling on the 5 stylometric features to align their magnitude with the sparse TF-IDF matrix. 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TF-IDF features from concatenated title + body (unigrams &amp; bigrams).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titles (558) → empty string. </a:t>
            </a:r>
            <a:b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bodies (39) → removed.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Method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8328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method — Chi-Square score to rank features against the target label.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capped at top 10,000 tokens, validated within 5-fold CV.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10,005 features total. No dimensionality reduction, tree-based models handle sparse high-dimensional input natively.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Features?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captures vocabulary shifts and source-mimicking artifacts confirmed by EDA.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Stylometric features target sensationalism signals that differ significantly between classes.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Discarded: serial number, dataset-specific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("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"featured image") — artifacts, not generalizable.</a:t>
            </a:r>
          </a:p>
        </p:txBody>
      </p:sp>
      <p:sp>
        <p:nvSpPr>
          <p:cNvPr id="20" name="Shape 18"/>
          <p:cNvSpPr/>
          <p:nvPr/>
        </p:nvSpPr>
        <p:spPr>
          <a:xfrm>
            <a:off x="411480" y="4773168"/>
            <a:ext cx="8321040" cy="274320"/>
          </a:xfrm>
          <a:prstGeom prst="roundRect">
            <a:avLst>
              <a:gd name="adj" fmla="val 26667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30352" y="4799076"/>
            <a:ext cx="8065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each engineering step was applied strictly within CV folds to prevent data leakage. E.g., 'Imputation fitted only on training fold, applied to validation/test.'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Pipeline: Avoiding Data Leakage &amp; Bias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4A6587"/>
          </a:solidFill>
          <a:ln w="12700">
            <a:solidFill>
              <a:srgbClr val="4A6587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27632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700784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01368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10" name="Text 8"/>
          <p:cNvSpPr/>
          <p:nvPr/>
        </p:nvSpPr>
        <p:spPr>
          <a:xfrm>
            <a:off x="1801368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63240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3136392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236976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98848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4572000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72584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672584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007608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8192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108192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fold)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370064" y="1545336"/>
            <a:ext cx="173736" cy="73152"/>
          </a:xfrm>
          <a:prstGeom prst="rect">
            <a:avLst/>
          </a:prstGeom>
          <a:solidFill>
            <a:srgbClr val="7A8FA6"/>
          </a:solidFill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7443216" y="1472184"/>
            <a:ext cx="164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</a:rPr>
              <a:t>▶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43800" y="1207008"/>
            <a:ext cx="1261872" cy="749808"/>
          </a:xfrm>
          <a:prstGeom prst="roundRect">
            <a:avLst>
              <a:gd name="adj" fmla="val 1097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7543800" y="1207008"/>
            <a:ext cx="1261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53949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Prevention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949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preprocessing steps (TF-IDF,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scaler,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removal) wrapped in a Scikit-Learn Pipeline — fitted exclusively on training folds.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 performed before any transformation. Validation and test folds only ever see frozen parameters.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set distribution ever influences the vocabulary, scaling bounds, or </a:t>
            </a:r>
            <a:r>
              <a:rPr lang="en-US" sz="1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list.</a:t>
            </a:r>
          </a:p>
        </p:txBody>
      </p:sp>
      <p:sp>
        <p:nvSpPr>
          <p:cNvPr id="30" name="Shape 28"/>
          <p:cNvSpPr/>
          <p:nvPr/>
        </p:nvSpPr>
        <p:spPr>
          <a:xfrm>
            <a:off x="324612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Text 29"/>
          <p:cNvSpPr/>
          <p:nvPr/>
        </p:nvSpPr>
        <p:spPr>
          <a:xfrm>
            <a:off x="337413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 Handling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374136" y="2578608"/>
            <a:ext cx="2395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balancing technique applied. The dataset is naturally balanced (51.5% fake / 48.5% real), so SMOTE and class weights were unnecessary.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preserves the natural class ratio across every split, ensuring stable and comparable metrics throughout.</a:t>
            </a:r>
          </a:p>
        </p:txBody>
      </p:sp>
      <p:sp>
        <p:nvSpPr>
          <p:cNvPr id="33" name="Shape 31"/>
          <p:cNvSpPr/>
          <p:nvPr/>
        </p:nvSpPr>
        <p:spPr>
          <a:xfrm>
            <a:off x="6080760" y="2121408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6208776" y="2231136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Justification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08776" y="2578608"/>
            <a:ext cx="24780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&amp; Accuracy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 Balanced classes make accuracy meaningful; F1 jointly captures precision and recall.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real news flagged as fake → censorship. FN = fake news classified as real → misinformation spreads. Both errors are costly — neither dominates.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reported as secondary metric to assess discriminative power across all decision thresholds.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PIPELINE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&amp; Hyperparameter Optimization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4069080" cy="2331720"/>
          </a:xfrm>
          <a:prstGeom prst="roundRect">
            <a:avLst>
              <a:gd name="adj" fmla="val 3137"/>
            </a:avLst>
          </a:prstGeom>
          <a:solidFill>
            <a:srgbClr val="F0F4FA"/>
          </a:solidFill>
          <a:ln w="1524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869948"/>
            <a:ext cx="4069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16098"/>
            <a:ext cx="4069080" cy="746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Box plot of cross-validated scores across candidate models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(e.g., F1-macro or RMSE per CV fold per model)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11480" y="356616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539496" y="3639312"/>
            <a:ext cx="3813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CV score distributions, not just mean values. Discuss statistical significance of differences (Wilcoxon test / Student’s t-test).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736592" y="15544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models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63640" y="15544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[list model families considered and why]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810512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4736592" y="18562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63640" y="1856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CV for all models</a:t>
            </a:r>
            <a:endParaRPr lang="en-US" sz="950" i="1" dirty="0">
              <a:solidFill>
                <a:srgbClr val="4A658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63440" y="2112264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4736592" y="21579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used to compare models]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414016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4736592" y="2459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model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63640" y="24597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[best family and justification]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715768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36592" y="2761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strategy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63640" y="2761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[Grid / Random / Bayesian search]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3017520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7" name="Text 25"/>
          <p:cNvSpPr/>
          <p:nvPr/>
        </p:nvSpPr>
        <p:spPr>
          <a:xfrm>
            <a:off x="4736592" y="30632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63640" y="306324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hyperparameters and ranges]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3319272"/>
            <a:ext cx="4069080" cy="283464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4736592" y="33649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63640" y="33649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[final hyperparameter values]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621024"/>
            <a:ext cx="40690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3" name="Text 31"/>
          <p:cNvSpPr/>
          <p:nvPr/>
        </p:nvSpPr>
        <p:spPr>
          <a:xfrm>
            <a:off x="4736592" y="36667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263640" y="36667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name, statistic, p-value]</a:t>
            </a:r>
            <a:endParaRPr lang="en-US" sz="950" dirty="0"/>
          </a:p>
        </p:txBody>
      </p:sp>
      <p:pic>
        <p:nvPicPr>
          <p:cNvPr id="36" name="Picture 35" descr="A graph of a graph&#10;&#10;AI-generated content may be incorrect.">
            <a:extLst>
              <a:ext uri="{FF2B5EF4-FFF2-40B4-BE49-F238E27FC236}">
                <a16:creationId xmlns:a16="http://schemas.microsoft.com/office/drawing/2014/main" id="{C0C728E1-6959-9848-4A76-8AAEBA451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668" y="1167818"/>
            <a:ext cx="3990703" cy="23944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RESULTS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Results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4069080" cy="2423160"/>
          </a:xfrm>
          <a:prstGeom prst="roundRect">
            <a:avLst>
              <a:gd name="adj" fmla="val 3019"/>
            </a:avLst>
          </a:prstGeom>
          <a:solidFill>
            <a:srgbClr val="F0F4FA"/>
          </a:solidFill>
          <a:ln w="1524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Primary result figure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Classification: confusion matrix  |  Regression: predicted vs. actual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Forecasting: actual vs. predicted time series  |  Clustering: 2D projection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663440" y="1170432"/>
            <a:ext cx="4069080" cy="2423160"/>
          </a:xfrm>
          <a:prstGeom prst="roundRect">
            <a:avLst>
              <a:gd name="adj" fmla="val 3019"/>
            </a:avLst>
          </a:prstGeom>
          <a:solidFill>
            <a:srgbClr val="F0F4FA"/>
          </a:solidFill>
          <a:ln w="1524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466344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Secondary metric figure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Classification: ROC / PR curve  |  Regression: residual plot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Forecasting: residual over time  |  Clustering: silhouette / elbow curve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1480" y="37033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(Test Set)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41148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1148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1]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1460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251460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51460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2]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1772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461772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1772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[Metric 3]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20840" y="4005072"/>
            <a:ext cx="1938528" cy="877824"/>
          </a:xfrm>
          <a:prstGeom prst="roundRect">
            <a:avLst>
              <a:gd name="adj" fmla="val 10417"/>
            </a:avLst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6720840" y="407822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4535424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[Baseline]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" y="4846320"/>
            <a:ext cx="8321040" cy="228600"/>
          </a:xfrm>
          <a:prstGeom prst="roundRect">
            <a:avLst>
              <a:gd name="adj" fmla="val 32000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539496" y="4919472"/>
            <a:ext cx="806500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both validation and test scores. If the gap is large, discuss possible reasons (overfitting, distribution shift).</a:t>
            </a:r>
            <a:endParaRPr lang="en-US" sz="950" dirty="0"/>
          </a:p>
        </p:txBody>
      </p:sp>
      <p:pic>
        <p:nvPicPr>
          <p:cNvPr id="27" name="Picture 26" descr="A blue and white graph&#10;&#10;AI-generated content may be incorrect.">
            <a:extLst>
              <a:ext uri="{FF2B5EF4-FFF2-40B4-BE49-F238E27FC236}">
                <a16:creationId xmlns:a16="http://schemas.microsoft.com/office/drawing/2014/main" id="{6BDA89F9-9C4D-3075-1F97-799E2877C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09788"/>
            <a:ext cx="2565088" cy="2565088"/>
          </a:xfrm>
          <a:prstGeom prst="rect">
            <a:avLst/>
          </a:prstGeom>
        </p:spPr>
      </p:pic>
      <p:pic>
        <p:nvPicPr>
          <p:cNvPr id="29" name="Picture 28" descr="A graph of a curve&#10;&#10;AI-generated content may be incorrect.">
            <a:extLst>
              <a:ext uri="{FF2B5EF4-FFF2-40B4-BE49-F238E27FC236}">
                <a16:creationId xmlns:a16="http://schemas.microsoft.com/office/drawing/2014/main" id="{44840C6A-6B53-E391-2768-9B4DFF4C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5964" y="1035101"/>
            <a:ext cx="3349752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137160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CRITICAL 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&amp;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Discussion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11480" y="30175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model work? · What did it get wrong and why?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future directions · domain impact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Explainability: What Drives the Model Overall?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SHAP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beeswarm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each dot is one test sample; color = feature value (red high, blue low); x-axis = impact direction (positive -&gt; Real, negative -&gt; Fake)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signal: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present -&gt; Fake;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/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absent -&gt; Real. The model learned to recognize partisan vs. institutional sources without explicit supervision.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/>
              <a:t>Stylometric features are counterintuitive:</a:t>
            </a:r>
            <a:r>
              <a:rPr lang="en-US" sz="1100" dirty="0"/>
              <a:t> high “</a:t>
            </a:r>
            <a:r>
              <a:rPr lang="en-US" sz="1100" dirty="0" err="1"/>
              <a:t>exclamation_mark_density</a:t>
            </a:r>
            <a:r>
              <a:rPr lang="en-US" sz="1100" dirty="0"/>
              <a:t>” and “</a:t>
            </a:r>
            <a:r>
              <a:rPr lang="en-US" sz="1100" dirty="0" err="1"/>
              <a:t>question_mark_density</a:t>
            </a:r>
            <a:r>
              <a:rPr lang="en-US" sz="1100" dirty="0"/>
              <a:t>” push toward Real — contrary to the EDA hypothesis.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relies on linguistically meaningful signals — not noise or dataset artifacts — validating that the 97.9% accuracy reflects genuine learning.</a:t>
            </a:r>
          </a:p>
        </p:txBody>
      </p:sp>
      <p:pic>
        <p:nvPicPr>
          <p:cNvPr id="15" name="Picture 14" descr="A graph with blue and pink lines&#10;&#10;AI-generated content may be incorrect.">
            <a:extLst>
              <a:ext uri="{FF2B5EF4-FFF2-40B4-BE49-F238E27FC236}">
                <a16:creationId xmlns:a16="http://schemas.microsoft.com/office/drawing/2014/main" id="{2E852A9B-2B3A-28D5-2F1F-4614E6C53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670" y="1131830"/>
            <a:ext cx="3168194" cy="38072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EXPLAINABILITY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Explainability: Why This Specific Prediction?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Article from October 2016 mentioning "president-elect", "Hillary", and "2016" — political content from the US election period, ground truth: Fake News (correctly classified)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 toward Fake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total_word_count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(+4.06) signals an unusually long article;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absent (value=0, +1.14) means the absence of this trusted token pushes toward fake; “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breitbart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 presence (−0.82 toward real... wait — check sign) drives toward fake as expected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with global importance: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total_word_count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exclamation_mark_density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institutional tokens like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appear in the global SHAP ranking too — local and global explanations align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coherent: The model reasons correctly — a long article with no press agency signatures, referencing partisan political figures during a polarized election, is a textbook fake news profile</a:t>
            </a:r>
            <a:endParaRPr lang="en-US" sz="1100" dirty="0"/>
          </a:p>
        </p:txBody>
      </p:sp>
      <p:pic>
        <p:nvPicPr>
          <p:cNvPr id="15" name="Picture 14" descr="A graph with red and blue squares&#10;&#10;AI-generated content may be incorrect.">
            <a:extLst>
              <a:ext uri="{FF2B5EF4-FFF2-40B4-BE49-F238E27FC236}">
                <a16:creationId xmlns:a16="http://schemas.microsoft.com/office/drawing/2014/main" id="{AB7D282B-5B78-9F2C-5CC7-EE8302031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325227"/>
            <a:ext cx="4265888" cy="32513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What Did the Model Get Wrong and Why?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4069080" cy="2423160"/>
          </a:xfrm>
          <a:prstGeom prst="roundRect">
            <a:avLst>
              <a:gd name="adj" fmla="val 3019"/>
            </a:avLst>
          </a:prstGeom>
          <a:solidFill>
            <a:srgbClr val="F0F4FA"/>
          </a:solidFill>
          <a:ln w="1524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411480" y="1897380"/>
            <a:ext cx="4069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</a:rPr>
              <a:t>[ YOUR FIGURE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672791"/>
            <a:ext cx="4069080" cy="775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Error characterization figure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e.g., misclassified samples in feature space,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7A8FA6"/>
                </a:solidFill>
              </a:rPr>
              <a:t>error histogram, SHAP for wrong predictions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663440" y="11704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Reverse-Engineering Errors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508760"/>
            <a:ext cx="4069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 patterns do misclassified / high-error samples share?]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[Which features take unusual values in these samples?]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 do the local SHAP explanations reveal about these cases?]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[Are the errors understandable given the domain?]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[Are there systematic failure modes (e.g., rare subgroups)?]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703320"/>
            <a:ext cx="8321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594360" y="379476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Prior Work (if applicable)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407822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[If a published baseline exists for the same task, compare results. If your numbers differ, formulate explicit hypotheses: different feature sets? different train/test split? class imbalance handling? State clearly what you know and what you speculate.]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463040" cy="246888"/>
          </a:xfrm>
          <a:prstGeom prst="roundRect">
            <a:avLst>
              <a:gd name="adj" fmla="val 22222"/>
            </a:avLst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246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50" dirty="0">
                <a:solidFill>
                  <a:srgbClr val="FFFFFF"/>
                </a:solidFill>
              </a:rPr>
              <a:t>CRITICAL DISCUSSION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11480" y="566928"/>
            <a:ext cx="8321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Impact, Limitations &amp; Future Directions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41148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2651760" cy="137160"/>
          </a:xfrm>
          <a:prstGeom prst="rect">
            <a:avLst/>
          </a:prstGeom>
          <a:solidFill>
            <a:srgbClr val="008F84"/>
          </a:solidFill>
          <a:ln w="12700">
            <a:solidFill>
              <a:srgbClr val="008F8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120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Impact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3949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as a first-pass filter for content moderation platforms — flagging suspicious articles for human review before publication or amplification.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fact-checkers by prioritizing the review queue — not replacing human judgment, but scaling it.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error types are costly: FP censors legitimate journalism; FN lets misinformation spread. The system's balanced error rate makes it suitable as a decision-support tool, not a final arbiter.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explanations make predictions auditable — a requirement for any human-facing moderation system.</a:t>
            </a:r>
          </a:p>
        </p:txBody>
      </p:sp>
      <p:sp>
        <p:nvSpPr>
          <p:cNvPr id="10" name="Shape 8"/>
          <p:cNvSpPr/>
          <p:nvPr/>
        </p:nvSpPr>
        <p:spPr>
          <a:xfrm>
            <a:off x="324612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324612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51760" cy="137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335584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7413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WELFake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English-only and politically skewed toward US news — generalization to other domains or languages is untested.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TF-IDF vocabulary is vulnerable to concept drift — new sources or vocabulary shifts will degrade performance over time without retraining.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classifies style, not truth — it cannot verify factual claims, only detect stylistic proxies of deception.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a single dataset split — no deployment test or real-world feedback loop.</a:t>
            </a:r>
          </a:p>
        </p:txBody>
      </p:sp>
      <p:sp>
        <p:nvSpPr>
          <p:cNvPr id="15" name="Shape 13"/>
          <p:cNvSpPr/>
          <p:nvPr/>
        </p:nvSpPr>
        <p:spPr>
          <a:xfrm>
            <a:off x="6080760" y="1170432"/>
            <a:ext cx="2651760" cy="35661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6080760" y="1170432"/>
            <a:ext cx="2651760" cy="384048"/>
          </a:xfrm>
          <a:prstGeom prst="roundRect">
            <a:avLst>
              <a:gd name="adj" fmla="val 23810"/>
            </a:avLst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6080760" y="1417320"/>
            <a:ext cx="2651760" cy="13716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190488" y="1207008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08776" y="1627632"/>
            <a:ext cx="2377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TF-IDF with contextual embeddings (BERT) to capture deep semantic meaning beyond keyword matching.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 external knowledge graphs or fact-checking APIs to cross-reference claims against verified databases — moving from style detection to factual grounding.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a multimodal pipeline — incorporating image analysis and metadata to catch deception beyond text alone.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deployment study with human-in-the-loop feedback to measure calibration and detect drift over time.</a:t>
            </a:r>
          </a:p>
        </p:txBody>
      </p:sp>
      <p:sp>
        <p:nvSpPr>
          <p:cNvPr id="20" name="Shape 18"/>
          <p:cNvSpPr/>
          <p:nvPr/>
        </p:nvSpPr>
        <p:spPr>
          <a:xfrm>
            <a:off x="411480" y="4773168"/>
            <a:ext cx="832104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 w="12700">
            <a:solidFill>
              <a:srgbClr val="93C5E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539496" y="4846320"/>
            <a:ext cx="80650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1E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is the most important one for showcasing intellectual maturity. Do not treat limitations as failures — frame them as honest appraisals and opportunities. The audience respects a presenter who knows what their model cannot do.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A6"/>
          </a:solidFill>
          <a:ln w="12700">
            <a:solidFill>
              <a:srgbClr val="00B4A6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411480" y="82296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11480" y="182880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B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Conclusions: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11480" y="2148840"/>
            <a:ext cx="8321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[One-sentence summary of the problem and task]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best model chosen and how it was validated]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most interesting finding from explainability or error analysis]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 most important limitation and next step]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3703320"/>
            <a:ext cx="8321040" cy="13716"/>
          </a:xfrm>
          <a:prstGeom prst="rect">
            <a:avLst/>
          </a:prstGeom>
          <a:solidFill>
            <a:srgbClr val="2E4A70"/>
          </a:solidFill>
          <a:ln w="12700">
            <a:solidFill>
              <a:srgbClr val="2E4A7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11480" y="38404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6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[FirstName LastName]   ·   [email@domain.com]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</TotalTime>
  <Words>2097</Words>
  <Application>Microsoft Office PowerPoint</Application>
  <PresentationFormat>On-screen Show (16:9)</PresentationFormat>
  <Paragraphs>235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&amp; Machine Learning — Project Presentation Template</dc:title>
  <dc:subject>PptxGenJS Presentation</dc:subject>
  <dc:creator>PptxGenJS</dc:creator>
  <cp:lastModifiedBy>Andrea Giacomazzi</cp:lastModifiedBy>
  <cp:revision>8</cp:revision>
  <dcterms:created xsi:type="dcterms:W3CDTF">2026-05-31T14:27:00Z</dcterms:created>
  <dcterms:modified xsi:type="dcterms:W3CDTF">2026-06-04T13:18:01Z</dcterms:modified>
</cp:coreProperties>
</file>