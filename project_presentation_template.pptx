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4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2025–2026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Alessio Grillo — ID: 654947   |   Andrea Giacomazzi — ID: 720164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[DD/MM/YYYY]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4114800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243756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" y="41788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time: 10 minutes.   The slide structure is a template — adapt it to your project, but make sure all key aspects are covered: problem, pipeline, experiments, results, and critical discussion.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TEMPLATE GUIDE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Template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Delete this slide before presenting. The blue boxes on each slide are instructions — remove them too.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suggests a structure for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project presentation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number of slides and their content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specific project: not every section needs the same amount of space.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[ placeholder ] text with your actual content.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figure placeholder boxes with your actual charts and plots.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has two parts: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(pipeline, experiments, results) and a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part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(discussion, explainability, limitations, future work).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read the slides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as anchors for a spoken narrative. The text is in the report! The presentation should be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</a:t>
            </a:r>
            <a:r>
              <a:rPr lang="en-US" sz="1100" b="1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engaging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clarity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completeness: one key message per slide.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18288" cy="2834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predict whether it is credible or deceptive based on its text alone. 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binary classification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faster than anyone can fact-check it, shaping opinions on elections, health, and public trust. 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cannot check whether something is true facts, it can only detect stylistic and linguistic patterns. And the best fake articles are written to sound exactly like real ones.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3456432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39496" y="3529584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 per bullet. Focus on what makes this problem interesting and non-trivial. Do not describe your solution yet.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72.134 samples, 3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veracity (0: Fake News, 1: Real News)</a:t>
            </a:r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numerical, 2 textual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0,21% overall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/ 48.5% — balanced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F1-score, Precision</a:t>
            </a:r>
            <a:r>
              <a:rPr lang="en-US" sz="950" i="1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Recall, AUC-ROC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Feature distributions (histograms / box plots grouped by class or target)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344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Correlation heatmap or scatter matrix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6755" y="4213937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6755" y="4085921"/>
            <a:ext cx="8065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most informative findings: class imbalance, notable correlations, missing-value patterns (report % overall and per class). These observations should motivate your preprocessing choices in the next slide.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2–3 key observations in one sentence each — e.g., class imbalance ratio, most correlated features, missing-value distribution]</a:t>
            </a:r>
            <a:endParaRPr lang="en-US" sz="950" dirty="0"/>
          </a:p>
        </p:txBody>
      </p:sp>
      <p:pic>
        <p:nvPicPr>
          <p:cNvPr id="16" name="Picture 15" descr="A diagram of a heatmap&#10;&#10;AI-generated content may be incorrect.">
            <a:extLst>
              <a:ext uri="{FF2B5EF4-FFF2-40B4-BE49-F238E27FC236}">
                <a16:creationId xmlns:a16="http://schemas.microsoft.com/office/drawing/2014/main" id="{345894B8-56C9-A952-CB03-69BA066AF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534" y="866198"/>
            <a:ext cx="3908866" cy="3462810"/>
          </a:xfrm>
          <a:prstGeom prst="rect">
            <a:avLst/>
          </a:prstGeom>
        </p:spPr>
      </p:pic>
      <p:pic>
        <p:nvPicPr>
          <p:cNvPr id="22" name="Picture 2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FC6164B-906C-C990-0470-C6D09DDDC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" y="1286307"/>
            <a:ext cx="5000461" cy="2649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stylometric features: uppercase ratio, word count, spelling error rate, exclamation &amp; question mark density.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scaling on the 5 stylometric features to align their magnitude with the sparse TF-IDF matrix.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TF-IDF features from concatenated title + body (unigrams &amp; bigrams).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titles (558) → empty string. </a:t>
            </a:r>
            <a:b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bodies (39) → removed.</a:t>
            </a:r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 — Chi-Square score to rank features against the target label.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capped at top 10,000 tokens, validated within 5-fold CV.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10,005 features total. No dimensionality reduction, tree-based models handle sparse high-dimensional input natively.</a:t>
            </a:r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captures vocabulary shifts and source-mimicking artifacts confirmed by EDA.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features target sensationalism signals that differ significantly between classes.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Discarded: serial number, dataset-specific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("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", "featured image") — artifacts, not generalizable.</a:t>
            </a:r>
          </a:p>
        </p:txBody>
      </p:sp>
      <p:sp>
        <p:nvSpPr>
          <p:cNvPr id="20" name="Shape 18"/>
          <p:cNvSpPr/>
          <p:nvPr/>
        </p:nvSpPr>
        <p:spPr>
          <a:xfrm>
            <a:off x="411480" y="4773168"/>
            <a:ext cx="8321040" cy="274320"/>
          </a:xfrm>
          <a:prstGeom prst="roundRect">
            <a:avLst>
              <a:gd name="adj" fmla="val 26667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30352" y="4799076"/>
            <a:ext cx="806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each engineering step was applied strictly within CV folds to prevent data leakage. E.g., 'Imputation fitted only on training fold, applied to validation/test.'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steps (TF-IDF,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scaler,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removal) wrapped in a Scikit-Learn Pipeline — fitted exclusively on training folds.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performed before any transformation. Validation and test folds only ever see frozen parameters.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set distribution ever influences the vocabulary, scaling bounds, or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list.</a:t>
            </a:r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balancing technique applied. The dataset is naturally balanced (51.5% fake / 48.5% real), so SMOTE and class weights were unnecessary.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preserves the natural class ratio across every split, ensuring stable and comparable metrics throughout.</a:t>
            </a:r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4780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&amp; Accuracy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 Balanced classes make accuracy meaningful; F1 jointly captures precision and recall.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real news flagged as fake → censorship. FN = fake news classified as real → misinformation spreads. Both errors are costly — neither dominates.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reported as secondary metric to assess discriminative power across all decision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69948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16098"/>
            <a:ext cx="40690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Box plot of cross-validated scores across candidate models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(e.g., F1-macro or RMSE per CV fold per model)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3566160"/>
            <a:ext cx="406908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9496" y="3639312"/>
            <a:ext cx="3813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CV score distributions, not just mean values. Discuss statistical significance of differences (Wilcoxon test / Student’s t-test).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36592" y="1554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model families considered and why]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1856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for all models</a:t>
            </a:r>
            <a:endParaRPr lang="en-US" sz="950" i="1" dirty="0">
              <a:solidFill>
                <a:srgbClr val="4A658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used to compare models]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14016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2459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[best family and justification]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[Grid / Random / Bayesian search]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hyperparameters and ranges]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319272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[final hyperparameter values]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621024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666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666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 name, statistic, p-value]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Primary result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Classification: confusion matrix  |  Regression: predicted vs. actual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Forecasting: actual vs. predicted time series  |  Clustering: 2D projection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66344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Secondary metric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Classification: ROC / PR curve  |  Regression: residual plot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Forecasting: residual over time  |  Clustering: silhouette / elbow curve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(Test Set)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1]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[Baseline]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846320"/>
            <a:ext cx="8321040" cy="228600"/>
          </a:xfrm>
          <a:prstGeom prst="roundRect">
            <a:avLst>
              <a:gd name="adj" fmla="val 32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39496" y="4919472"/>
            <a:ext cx="806500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 validation and test scores. If the gap is large, discuss possible reasons (overfitting, distribution shift).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971446"/>
            <a:ext cx="4069080" cy="106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Global explainability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Mean |SHAP| bar chart or permutation importance ranking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SHAP. Each feature's value shows its average marginal contribution to the prediction across the full test set. Appropriate for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it handles non-linear interactions correctly.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 mark density and title uppercase ratio are the strongest drivers — both sensationalism signals confirmed by EDA. Semantic tokens like "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breitbart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push toward fake; "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and "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anchor real news predictions.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[Any surprising or counterintuitive finding?]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relies on linguistically meaningful signals — not noise or dataset artifacts — validating that the 97.9% accuracy reflects genuine learning.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9496" y="4005072"/>
            <a:ext cx="8065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each explanation to the application domain. A SHAP plot is useless without interpreting what the top features mean in practice.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9496" y="4645152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techniques seen in class: permutation importance, mean |SHAP| (beeswarm), partial dependence plots, SAGE values.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971446"/>
            <a:ext cx="4069080" cy="1068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Local explainability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SHAP waterfall / force plot for a representative sample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or LIME bar chart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specific sample analyzed — its features and ground truth]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features pushed the prediction toward the output?]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the explanation consistent with the global importance ranking?]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 it consistent with domain knowledge?]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[Show at least one correctly predicted and one misclassified sample]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9496" y="4005072"/>
            <a:ext cx="8065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just show the plot — narrate it. Walk the audience through what the model 'saw' and whether that reasoning makes sense in the domain.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57200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9496" y="4645152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techniques seen in class: SHAP force/waterfall/interaction plots, LIME, anchors, counterfactual explanations.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897380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8FA6"/>
                </a:solidFill>
              </a:rPr>
              <a:t>[ YOUR FIGURE HERE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Error characterization figure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e.g., misclassified samples in feature space,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error histogram, SHAP for wrong predictions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patterns do misclassified / high-error samples share?]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features take unusual values in these samples?]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do the local SHAP explanations reveal about these cases?]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 the errors understandable given the domain?]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[Are there systematic failure modes (e.g., rare subgroups)?]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 (if applicable)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[If a published baseline exists for the same task, compare results. If your numbers differ, formulate explicit hypotheses: different feature sets? different train/test split? class imbalance handling? State clearly what you know and what you speculate.]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 first-pass filter for content moderation platforms — flagging suspicious articles for human review before publication or amplification.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fact-checkers by prioritizing the review queue — not replacing human judgment, but scaling it.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error types are costly: FP censors legitimate journalism; FN lets misinformation spread. The system's balanced error rate makes it suitable as a decision-support tool, not a final arbiter.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make predictions auditable — a requirement for any human-facing moderation system.</a:t>
            </a:r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WELFake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English-only and politically skewed toward US news — generalization to other domains or languages is untested.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TF-IDF vocabulary is vulnerable to concept drift — new sources or vocabulary shifts will degrade performance over time without retraining.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classifies style, not truth — it cannot verify factual claims, only detect stylistic proxies of deception.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single dataset split — no deployment test or real-world feedback loop.</a:t>
            </a:r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 contextual embeddings (BERT) to capture deep semantic meaning beyond keyword matching.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 external knowledge graphs or fact-checking APIs to cross-reference claims against verified databases — moving from style detection to factual grounding.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 multimodal pipeline — incorporating image analysis and metadata to catch deception beyond text alone.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study with human-in-the-loop feedback to measure calibration and detect drift over time.</a:t>
            </a:r>
          </a:p>
        </p:txBody>
      </p:sp>
      <p:sp>
        <p:nvSpPr>
          <p:cNvPr id="20" name="Shape 18"/>
          <p:cNvSpPr/>
          <p:nvPr/>
        </p:nvSpPr>
        <p:spPr>
          <a:xfrm>
            <a:off x="411480" y="4773168"/>
            <a:ext cx="8321040" cy="320040"/>
          </a:xfrm>
          <a:prstGeom prst="roundRect">
            <a:avLst>
              <a:gd name="adj" fmla="val 22857"/>
            </a:avLst>
          </a:prstGeom>
          <a:solidFill>
            <a:srgbClr val="E8F4FD"/>
          </a:solidFill>
          <a:ln w="12700">
            <a:solidFill>
              <a:srgbClr val="93C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39496" y="4846320"/>
            <a:ext cx="80650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the most important one for showcasing intellectual maturity. Do not treat limitations as failures — frame them as honest appraisals and opportunities. The audience respects a presenter who knows what their model cannot do.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[One-sentence summary of the problem and task]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best model chosen and how it was validated]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interesting finding from explainability or error analysis]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most important limitation and next step]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703320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[FirstName LastName]   ·   [email@domain.com]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2106</Words>
  <Application>Microsoft Office PowerPoint</Application>
  <PresentationFormat>On-screen Show (16:9)</PresentationFormat>
  <Paragraphs>247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Andrea Giacomazzi</cp:lastModifiedBy>
  <cp:revision>6</cp:revision>
  <dcterms:created xsi:type="dcterms:W3CDTF">2026-05-31T14:27:00Z</dcterms:created>
  <dcterms:modified xsi:type="dcterms:W3CDTF">2026-06-04T07:28:33Z</dcterms:modified>
</cp:coreProperties>
</file>