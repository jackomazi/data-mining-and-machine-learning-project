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41" autoAdjust="0"/>
    <p:restoredTop sz="94610"/>
  </p:normalViewPr>
  <p:slideViewPr>
    <p:cSldViewPr snapToGrid="0" snapToObjects="1">
      <p:cViewPr>
        <p:scale>
          <a:sx n="150" d="100"/>
          <a:sy n="150" d="100"/>
        </p:scale>
        <p:origin x="96" y="-10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3556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5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Detector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 Project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M.Sc. in Artificial Intelligence and Data Engineering — Academic Year 2025–2026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2606040"/>
            <a:ext cx="8321040" cy="18288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27432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— ID: 654947   |   Andrea Giacomazzi — ID: 720164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3127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[DD/MM/YYYY]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4114800"/>
            <a:ext cx="8321040" cy="685800"/>
          </a:xfrm>
          <a:prstGeom prst="roundRect">
            <a:avLst>
              <a:gd name="adj" fmla="val 10667"/>
            </a:avLst>
          </a:prstGeom>
          <a:solidFill>
            <a:srgbClr val="243756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94360" y="41788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time: 10 minutes.   The slide structure is a template — adapt it to your project, but make sure all key aspects are covered: problem, pipeline, experiments, results, and critical discussion.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TEMPLATE GUIDE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Template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FFFBEB"/>
          </a:solidFill>
          <a:ln w="1905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Delete this slide before presenting. The blue boxes on each slide are instructions — remove them too.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template suggests a structure for a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10-minute project presentation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the number of slides and their content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your specific project: not every section needs the same amount of space.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all [ placeholder ] text with your actual content.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figure placeholder boxes with your actual charts and plots.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192024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presentation has two parts: a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part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(pipeline, experiments, results) and a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part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(discussion, explainability, limitations, future work).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read the slides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them as anchors for a spoken narrative. The text is in the report! The presentation should be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</a:t>
            </a:r>
            <a:r>
              <a:rPr lang="en-US" sz="1100" b="1" u="sng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engaging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for clarity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completeness: one key message per slide.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874520"/>
            <a:ext cx="18288" cy="28346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OVERVIEW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22529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122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2070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14538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 · features · EDA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6072" y="160934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11480" y="19568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1148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938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Experiments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21854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· model selection · hyperparameter optimization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199339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EF2FA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8138160" y="19933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1C2B4A"/>
                </a:solidFill>
              </a:rPr>
              <a:t>PART 1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76072" y="234086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411480" y="26883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1148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291693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· cross-validation · final model performance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76072" y="307238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1148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4015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14400" y="3648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&amp; local techniques · consistency with domain knowledge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38160" y="345643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0F5F4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8138160" y="34564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008F84"/>
                </a:solidFill>
              </a:rPr>
              <a:t>PART 2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80390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411480" y="41513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1148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41330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14400" y="437997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· limitations · future directions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Pipeline &amp; Results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7889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· feature engineering · model selection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optimization · evaluation · test-set results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&amp; Dataset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1704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481328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article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predict whether it is credible or deceptive based on its text alone.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type: binary classification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 spreads faster than anyone can fact-check it, shaping opinions on elections, health, and public trust.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cannot check whether something is true facts, it can only detect stylistic and linguistic patterns. And the best fake articles are written to sound exactly like real ones.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11480" y="3456432"/>
            <a:ext cx="4069080" cy="621792"/>
          </a:xfrm>
          <a:prstGeom prst="roundRect">
            <a:avLst>
              <a:gd name="adj" fmla="val 11765"/>
            </a:avLst>
          </a:prstGeom>
          <a:solidFill>
            <a:srgbClr val="E8F4FD"/>
          </a:solidFill>
          <a:ln w="12700">
            <a:solidFill>
              <a:srgbClr val="93C5E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39496" y="3529584"/>
            <a:ext cx="3813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sentences per bullet. Focus on what makes this problem interesting and non-trivial. Do not describe your solution yet.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15568"/>
            <a:ext cx="4069080" cy="2962656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828032" y="1225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736592" y="16093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35040" y="16093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84708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5" name="Text 13"/>
          <p:cNvSpPr/>
          <p:nvPr/>
        </p:nvSpPr>
        <p:spPr>
          <a:xfrm>
            <a:off x="4736592" y="18836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035040" y="18836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72.134 samples, 3 features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12140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736592" y="21579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35040" y="21579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veracity (0: Fake News, 1: Real News)</a:t>
            </a:r>
          </a:p>
        </p:txBody>
      </p:sp>
      <p:sp>
        <p:nvSpPr>
          <p:cNvPr id="20" name="Shape 18"/>
          <p:cNvSpPr/>
          <p:nvPr/>
        </p:nvSpPr>
        <p:spPr>
          <a:xfrm>
            <a:off x="4663440" y="239572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1" name="Text 19"/>
          <p:cNvSpPr/>
          <p:nvPr/>
        </p:nvSpPr>
        <p:spPr>
          <a:xfrm>
            <a:off x="4736592" y="24323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243230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numerical, 2 textual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67004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36592" y="27066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27066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0,21% overall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294436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736592" y="2980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5040" y="29809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51.5% / 48.5% — balanced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21868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736592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35040" y="32552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Training / 20% Testing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49300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36592" y="35295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Metric(s)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35040" y="35295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F1-score, Precision</a:t>
            </a:r>
            <a:r>
              <a:rPr lang="en-US" sz="950" i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Recall, AUC-ROC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1148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Feature distributions (histograms / box plots grouped by class or target)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4345885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EDA: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624523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22" name="Picture 2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FC6164B-906C-C990-0470-C6D09DDDC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3" y="1286307"/>
            <a:ext cx="5000461" cy="2649673"/>
          </a:xfrm>
          <a:prstGeom prst="rect">
            <a:avLst/>
          </a:prstGeom>
        </p:spPr>
      </p:pic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98053734-F748-540B-5315-B958720CD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1327" y="986589"/>
            <a:ext cx="3974180" cy="29493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Selection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stylometric features: uppercase ratio, word count, spelling error rate, exclamation &amp; question mark density.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scaling on the 5 stylometric features to align their magnitude with the sparse TF-IDF matrix. 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TF-IDF features from concatenated title + body (unigrams &amp; bigrams).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titles (558) → empty string. </a:t>
            </a:r>
            <a:b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bodies (39) → removed.</a:t>
            </a: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Method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method — Chi-Square score to rank features against the target label.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capped at top 10,000 tokens, validated within 5-fold CV.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10,005 features total. No dimensionality reduction, tree-based models handle sparse high-dimensional input natively.</a:t>
            </a: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Features?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1792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captures vocabulary shifts and source-mimicking artifacts confirmed by EDA.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Stylometric features target sensationalism signals that differ significantly between classes.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Discarded: serial number, dataset-specific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("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"featured image") — artifacts, not generalizable.</a:t>
            </a:r>
          </a:p>
        </p:txBody>
      </p:sp>
      <p:sp>
        <p:nvSpPr>
          <p:cNvPr id="20" name="Shape 18"/>
          <p:cNvSpPr/>
          <p:nvPr/>
        </p:nvSpPr>
        <p:spPr>
          <a:xfrm>
            <a:off x="411480" y="4773168"/>
            <a:ext cx="8321040" cy="274320"/>
          </a:xfrm>
          <a:prstGeom prst="roundRect">
            <a:avLst>
              <a:gd name="adj" fmla="val 26667"/>
            </a:avLst>
          </a:prstGeom>
          <a:solidFill>
            <a:srgbClr val="E8F4FD"/>
          </a:solidFill>
          <a:ln w="12700">
            <a:solidFill>
              <a:srgbClr val="93C5E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530352" y="4799076"/>
            <a:ext cx="8065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each engineering step was applied strictly within CV folds to prevent data leakage. E.g., 'Imputation fitted only on training fold, applied to validation/test.'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Pipeline: Avoiding Data Leakage &amp; Bias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4A6587"/>
          </a:solidFill>
          <a:ln w="12700">
            <a:solidFill>
              <a:srgbClr val="4A658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27632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700784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01368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0" name="Text 8"/>
          <p:cNvSpPr/>
          <p:nvPr/>
        </p:nvSpPr>
        <p:spPr>
          <a:xfrm>
            <a:off x="1801368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63240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3136392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236976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98848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572000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72584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72584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34456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007608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8192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108192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(held-out fold)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70064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7443216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4380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754380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3949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Prevention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949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preprocessing steps (TF-IDF,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scaler,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removal) wrapped in a Scikit-Learn Pipeline — fitted exclusively on training folds.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performed before any transformation. Validation and test folds only ever see frozen parameters.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set distribution ever influences the vocabulary, scaling bounds, or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list.</a:t>
            </a:r>
          </a:p>
        </p:txBody>
      </p:sp>
      <p:sp>
        <p:nvSpPr>
          <p:cNvPr id="30" name="Shape 28"/>
          <p:cNvSpPr/>
          <p:nvPr/>
        </p:nvSpPr>
        <p:spPr>
          <a:xfrm>
            <a:off x="324612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337413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Handling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7413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balancing technique applied. The dataset is naturally balanced (51.5% fake / 48.5% real), so SMOTE and class weights were unnecessary.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preserves the natural class ratio across every split, ensuring stable and comparable metrics throughout.</a:t>
            </a:r>
          </a:p>
        </p:txBody>
      </p:sp>
      <p:sp>
        <p:nvSpPr>
          <p:cNvPr id="33" name="Shape 31"/>
          <p:cNvSpPr/>
          <p:nvPr/>
        </p:nvSpPr>
        <p:spPr>
          <a:xfrm>
            <a:off x="608076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620877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Justification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08776" y="2578608"/>
            <a:ext cx="2478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&amp; Accuracy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 Balanced classes make accuracy meaningful; F1 jointly captures precision and recall.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real news flagged as fake → censorship. FN = fake news classified as real → misinformation spreads. Both errors are costly — neither dominates.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reported as secondary metric to assess discriminative power across all decision thresholds.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 &amp; Hyperparameter Optimization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11480" y="356616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E8F4FD"/>
          </a:solidFill>
          <a:ln w="12700">
            <a:solidFill>
              <a:srgbClr val="93C5E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539496" y="3639312"/>
            <a:ext cx="38130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CV score distributions, not just mean values. Discuss statistical significance of differences (Wilcoxon test / Student’s t-test).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736592" y="15544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models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63640" y="15544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 (LR, NB, SVM) + ensemble (RF, AdaBoost, </a:t>
            </a:r>
            <a:r>
              <a:rPr lang="en-US" sz="70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70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 covering linear, probabilistic, geometric and boosting families</a:t>
            </a:r>
          </a:p>
        </p:txBody>
      </p:sp>
      <p:sp>
        <p:nvSpPr>
          <p:cNvPr id="14" name="Shape 12"/>
          <p:cNvSpPr/>
          <p:nvPr/>
        </p:nvSpPr>
        <p:spPr>
          <a:xfrm>
            <a:off x="4663440" y="1810512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736592" y="18562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strategy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63640" y="18562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for all models</a:t>
            </a:r>
            <a:endParaRPr lang="en-US" sz="950" i="1" dirty="0">
              <a:solidFill>
                <a:srgbClr val="4A658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63440" y="2112264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736592" y="215798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63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2414016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736592" y="2459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model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63640" y="24597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highest CV accuracy (0.978) with lowest variance</a:t>
            </a:r>
          </a:p>
        </p:txBody>
      </p:sp>
      <p:sp>
        <p:nvSpPr>
          <p:cNvPr id="23" name="Shape 21"/>
          <p:cNvSpPr/>
          <p:nvPr/>
        </p:nvSpPr>
        <p:spPr>
          <a:xfrm>
            <a:off x="4663440" y="2715768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36592" y="2761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strategy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63640" y="2761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Search (5 combinations x model)</a:t>
            </a:r>
          </a:p>
        </p:txBody>
      </p:sp>
      <p:sp>
        <p:nvSpPr>
          <p:cNvPr id="26" name="Shape 24"/>
          <p:cNvSpPr/>
          <p:nvPr/>
        </p:nvSpPr>
        <p:spPr>
          <a:xfrm>
            <a:off x="4663440" y="3017520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736592" y="30632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63640" y="30632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{50,100,150}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{0.05, 0.1}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{15, 31}</a:t>
            </a:r>
          </a:p>
        </p:txBody>
      </p:sp>
      <p:sp>
        <p:nvSpPr>
          <p:cNvPr id="29" name="Shape 27"/>
          <p:cNvSpPr/>
          <p:nvPr/>
        </p:nvSpPr>
        <p:spPr>
          <a:xfrm>
            <a:off x="4663440" y="3319272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736592" y="33649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63640" y="336499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100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0.1 · </a:t>
            </a: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num_leaves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31</a:t>
            </a:r>
          </a:p>
        </p:txBody>
      </p:sp>
      <p:sp>
        <p:nvSpPr>
          <p:cNvPr id="32" name="Shape 30"/>
          <p:cNvSpPr/>
          <p:nvPr/>
        </p:nvSpPr>
        <p:spPr>
          <a:xfrm>
            <a:off x="4663440" y="3621024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36592" y="36667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263640" y="36667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 err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</a:t>
            </a: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 vs Linear SVM · χ²=14.25 · p=0.00016</a:t>
            </a:r>
          </a:p>
        </p:txBody>
      </p:sp>
      <p:pic>
        <p:nvPicPr>
          <p:cNvPr id="36" name="Picture 35" descr="A graph of a graph&#10;&#10;AI-generated content may be incorrect.">
            <a:extLst>
              <a:ext uri="{FF2B5EF4-FFF2-40B4-BE49-F238E27FC236}">
                <a16:creationId xmlns:a16="http://schemas.microsoft.com/office/drawing/2014/main" id="{C0C728E1-6959-9848-4A76-8AAEBA451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668" y="1161288"/>
            <a:ext cx="3990703" cy="23944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RESULTS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Results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1480" y="3703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(Test Set)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1148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97,9%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1148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1460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251460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97,9%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51460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1772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61772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0,992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61772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2084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72084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96,4%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2084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SVM</a:t>
            </a:r>
            <a:endParaRPr lang="en-US" sz="900" dirty="0"/>
          </a:p>
        </p:txBody>
      </p:sp>
      <p:pic>
        <p:nvPicPr>
          <p:cNvPr id="27" name="Picture 26" descr="A blue and white graph&#10;&#10;AI-generated content may be incorrect.">
            <a:extLst>
              <a:ext uri="{FF2B5EF4-FFF2-40B4-BE49-F238E27FC236}">
                <a16:creationId xmlns:a16="http://schemas.microsoft.com/office/drawing/2014/main" id="{6BDA89F9-9C4D-3075-1F97-799E2877C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02" y="971256"/>
            <a:ext cx="2565088" cy="2565088"/>
          </a:xfrm>
          <a:prstGeom prst="rect">
            <a:avLst/>
          </a:prstGeom>
        </p:spPr>
      </p:pic>
      <p:pic>
        <p:nvPicPr>
          <p:cNvPr id="29" name="Picture 28" descr="A graph of a curve&#10;&#10;AI-generated content may be incorrect.">
            <a:extLst>
              <a:ext uri="{FF2B5EF4-FFF2-40B4-BE49-F238E27FC236}">
                <a16:creationId xmlns:a16="http://schemas.microsoft.com/office/drawing/2014/main" id="{44840C6A-6B53-E391-2768-9B4DFF4C2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6028" y="832104"/>
            <a:ext cx="3349752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CRITICAL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&amp;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30175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model work? · What did it get wrong and why?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future directions · domain impact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Explainability: What Drives the Model Overall?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SHAP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beeswarm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each dot is one test sample; color = feature value (red high, blue low); x-axis = impact direction (positive -&gt; Real, negative -&gt; Fake)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signal: “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present -&gt; Fake; “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/ “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absent -&gt; Real. The model learned to recognize partisan vs. institutional sources without explicit supervision.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/>
              <a:t>Stylometric features are counterintuitive:</a:t>
            </a:r>
            <a:r>
              <a:rPr lang="en-US" sz="1100" dirty="0"/>
              <a:t> high “</a:t>
            </a:r>
            <a:r>
              <a:rPr lang="en-US" sz="1100" dirty="0" err="1"/>
              <a:t>exclamation_mark_density</a:t>
            </a:r>
            <a:r>
              <a:rPr lang="en-US" sz="1100" dirty="0"/>
              <a:t>” and “</a:t>
            </a:r>
            <a:r>
              <a:rPr lang="en-US" sz="1100" dirty="0" err="1"/>
              <a:t>question_mark_density</a:t>
            </a:r>
            <a:r>
              <a:rPr lang="en-US" sz="1100" dirty="0"/>
              <a:t>” push toward Real — contrary to the EDA hypothesis.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relies on linguistically meaningful signals — not noise or dataset artifacts — validating that the 97.9% accuracy reflects genuine learning.</a:t>
            </a:r>
          </a:p>
        </p:txBody>
      </p:sp>
      <p:pic>
        <p:nvPicPr>
          <p:cNvPr id="15" name="Picture 14" descr="A graph with blue and pink lines&#10;&#10;AI-generated content may be incorrect.">
            <a:extLst>
              <a:ext uri="{FF2B5EF4-FFF2-40B4-BE49-F238E27FC236}">
                <a16:creationId xmlns:a16="http://schemas.microsoft.com/office/drawing/2014/main" id="{2E852A9B-2B3A-28D5-2F1F-4614E6C53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670" y="1131830"/>
            <a:ext cx="3168194" cy="38072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Explainability: Why This Specific Prediction?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Article from October 2016 mentioning "president-elect", "Hillary", and "2016" — political content from the US election period, ground truth: Fake News (correctly classified)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drivers toward Fake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total_word_count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(+4.06) signals an unusually long article; “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absent (value=0, +1.14) means the absence of this trusted token pushes toward fake; “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presence (−0.82 toward real... wait — check sign) drives toward fake as expected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global importance: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total_word_count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exclamation_mark_density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institutional tokens like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appear in the global SHAP ranking too — local and global explanations align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coherent: The model reasons correctly — a long article with no press agency signatures, referencing partisan political figures during a polarized election, is a textbook fake news profile</a:t>
            </a:r>
            <a:endParaRPr lang="en-US" sz="1100" dirty="0"/>
          </a:p>
        </p:txBody>
      </p:sp>
      <p:pic>
        <p:nvPicPr>
          <p:cNvPr id="15" name="Picture 14" descr="A graph with red and blue squares&#10;&#10;AI-generated content may be incorrect.">
            <a:extLst>
              <a:ext uri="{FF2B5EF4-FFF2-40B4-BE49-F238E27FC236}">
                <a16:creationId xmlns:a16="http://schemas.microsoft.com/office/drawing/2014/main" id="{AB7D282B-5B78-9F2C-5CC7-EE8302031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57" y="1325227"/>
            <a:ext cx="4265888" cy="32513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Analysis: What Did the Model Get Wrong and Why?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Reverse-Engineering Errors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031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 modes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FN (134) — fake news mimicking legitimate reporting; FP (220) — genuine opinion content penalized for aggressive style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model confounds writing style with factual content — stylometric proxies cannot capture semantic intent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61 (FP): moderate length + absent 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random: misclassifications cluster around the stylometric decision boundary, confirming a known architectural limit of TF-IDF pipelines</a:t>
            </a:r>
          </a:p>
        </p:txBody>
      </p:sp>
      <p:sp>
        <p:nvSpPr>
          <p:cNvPr id="10" name="Shape 8"/>
          <p:cNvSpPr/>
          <p:nvPr/>
        </p:nvSpPr>
        <p:spPr>
          <a:xfrm>
            <a:off x="411480" y="3698749"/>
            <a:ext cx="8321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94360" y="379476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Prior Work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4078224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Verma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al. (2021) — the original WELFake paper — reports ~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accuracy 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word embeddings combined with 20 hand-crafted linguistic features. Our LightGBM pipeline achieves </a:t>
            </a:r>
            <a:r>
              <a:rPr lang="it-IT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97.9%</a:t>
            </a:r>
            <a:r>
              <a:rPr lang="it-IT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simpler approach: TF-IDF + only 5 stylometric features. We outperform the dataset authors' own benchmark while maintaining full interpretability via SHAP.</a:t>
            </a:r>
            <a:endParaRPr lang="en-US" sz="11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4" name="Picture 13" descr="A graph with numbers and symbols&#10;&#10;AI-generated content may be incorrect.">
            <a:extLst>
              <a:ext uri="{FF2B5EF4-FFF2-40B4-BE49-F238E27FC236}">
                <a16:creationId xmlns:a16="http://schemas.microsoft.com/office/drawing/2014/main" id="{DA5D9E58-2A7A-A520-C977-1344C260B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53" y="1097280"/>
            <a:ext cx="3229800" cy="25550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Impact, Limitations &amp; Future Directions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3949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as a first-pass filter for content moderation platforms — flagging suspicious articles for human review before publication or amplification.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fact-checkers by prioritizing the review queue — not replacing human judgment, but scaling it.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error types are costly: FP censors legitimate journalism; FN lets misinformation spread. The system's balanced error rate makes it suitable as a decision-support tool, not a final arbiter.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explanations make predictions auditable — a requirement for any human-facing moderation system.</a:t>
            </a: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7413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WELFake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English-only and politically skewed toward US news — generalization to other domains or languages is untested.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TF-IDF vocabulary is vulnerable to concept drift — new sources or vocabulary shifts will degrade performance over time without retraining.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classifies style, not truth — it cannot verify factual claims, only detect stylistic proxies of deception.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a single dataset split — no deployment test or real-world feedback loop.</a:t>
            </a: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0877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TF-IDF with contextual embeddings (BERT) to capture deep semantic meaning beyond keyword matching.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 external knowledge graphs or fact-checking APIs to cross-reference claims against verified databases — moving from style detection to factual grounding.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a multimodal pipeline — incorporating image analysis and metadata to catch deception beyond text alone.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deployment study with human-in-the-loop feedback to measure calibration and detect drift over time.</a:t>
            </a:r>
          </a:p>
        </p:txBody>
      </p:sp>
      <p:sp>
        <p:nvSpPr>
          <p:cNvPr id="20" name="Shape 18"/>
          <p:cNvSpPr/>
          <p:nvPr/>
        </p:nvSpPr>
        <p:spPr>
          <a:xfrm>
            <a:off x="411480" y="4773168"/>
            <a:ext cx="832104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 w="12700">
            <a:solidFill>
              <a:srgbClr val="93C5E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539496" y="4846320"/>
            <a:ext cx="80650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is the most important one for showcasing intellectual maturity. Do not treat limitations as failures — frame them as honest appraisals and opportunities. The audience respects a presenter who knows what their model cannot do.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Conclusions: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automated binary classification of news articles to combat digital misinformation, using semantic and stylometric features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97.9% accuracy and F1, validated via Stratified 5-Fold CV and confirmed statistically superior to Linear SVM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p=0.00016)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XAI finding: SHAP reveals the model learned journalistically meaningful signals — source tokens (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sensationalist stylometry — not dataset artifacts, confirming genuine generalization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limitation &amp; next step: TF-IDF cannot distinguish writing style from factual content; future work should explore transformer-based architectures (BERT,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for deep contextual understanding</a:t>
            </a:r>
          </a:p>
        </p:txBody>
      </p:sp>
      <p:sp>
        <p:nvSpPr>
          <p:cNvPr id="6" name="Shape 4"/>
          <p:cNvSpPr/>
          <p:nvPr/>
        </p:nvSpPr>
        <p:spPr>
          <a:xfrm>
            <a:off x="411480" y="3938449"/>
            <a:ext cx="8321040" cy="13716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4108267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  ·   a.grillo6@studenti.unipi.it</a:t>
            </a:r>
          </a:p>
          <a:p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Giacomazzi   ·   a.giacomazzi1@studenti.unipi.it</a:t>
            </a:r>
          </a:p>
        </p:txBody>
      </p:sp>
      <p:sp>
        <p:nvSpPr>
          <p:cNvPr id="8" name="Text 6"/>
          <p:cNvSpPr/>
          <p:nvPr/>
        </p:nvSpPr>
        <p:spPr>
          <a:xfrm>
            <a:off x="411480" y="416052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2051</Words>
  <Application>Microsoft Office PowerPoint</Application>
  <PresentationFormat>On-screen Show (16:9)</PresentationFormat>
  <Paragraphs>215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Mining &amp; Machine Learning — Project Presentation Template</dc:title>
  <dc:subject>PptxGenJS Presentation</dc:subject>
  <dc:creator>PptxGenJS</dc:creator>
  <cp:lastModifiedBy>Andrea Giacomazzi</cp:lastModifiedBy>
  <cp:revision>12</cp:revision>
  <dcterms:created xsi:type="dcterms:W3CDTF">2026-05-31T14:27:00Z</dcterms:created>
  <dcterms:modified xsi:type="dcterms:W3CDTF">2026-06-04T14:59:22Z</dcterms:modified>
</cp:coreProperties>
</file>