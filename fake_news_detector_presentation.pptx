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6" r:id="rId6"/>
    <p:sldId id="267" r:id="rId7"/>
    <p:sldId id="268" r:id="rId8"/>
    <p:sldId id="269" r:id="rId9"/>
    <p:sldId id="270" r:id="rId10"/>
    <p:sldId id="260" r:id="rId11"/>
    <p:sldId id="274" r:id="rId12"/>
    <p:sldId id="273" r:id="rId13"/>
    <p:sldId id="272" r:id="rId14"/>
    <p:sldId id="278" r:id="rId15"/>
    <p:sldId id="261" r:id="rId16"/>
    <p:sldId id="281" r:id="rId17"/>
    <p:sldId id="280" r:id="rId18"/>
    <p:sldId id="262" r:id="rId19"/>
    <p:sldId id="282" r:id="rId20"/>
    <p:sldId id="284" r:id="rId21"/>
    <p:sldId id="263" r:id="rId22"/>
    <p:sldId id="283" r:id="rId23"/>
    <p:sldId id="264" r:id="rId24"/>
    <p:sldId id="265" r:id="rId25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27"/>
      <p:bold r:id="rId28"/>
      <p:italic r:id="rId29"/>
      <p:boldItalic r:id="rId30"/>
    </p:embeddedFont>
    <p:embeddedFont>
      <p:font typeface="Roboto Serif" panose="020B060402020202020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7">
          <p15:clr>
            <a:srgbClr val="747775"/>
          </p15:clr>
        </p15:guide>
        <p15:guide id="2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783A39-BEE9-1A34-394D-A125150977C1}" v="85" dt="2026-06-02T09:56:28.433"/>
    <p1510:client id="{27C493F5-8A4C-C2A6-BAE6-CA427F4A6D3E}" v="6" dt="2026-06-02T08:49:44.265"/>
    <p1510:client id="{BEB7EDDE-4270-F340-3BC1-8A7A7F104CB4}" v="8" dt="2026-06-02T08:45:34.470"/>
  </p1510:revLst>
</p1510:revInfo>
</file>

<file path=ppt/tableStyles.xml><?xml version="1.0" encoding="utf-8"?>
<a:tblStyleLst xmlns:a="http://schemas.openxmlformats.org/drawingml/2006/main" def="{22BDB265-CA13-4033-A9A2-EE50F5DF004B}">
  <a:tblStyle styleId="{22BDB265-CA13-4033-A9A2-EE50F5DF004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226" y="-379"/>
      </p:cViewPr>
      <p:guideLst>
        <p:guide pos="57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21488a45a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21488a45a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21488a45a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21488a45a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00194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21488a45a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21488a45a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21048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21488a45a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21488a45a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81443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21488a45a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21488a45a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75665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21488a45a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21488a45a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87471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21488a45a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21488a45a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8800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21488a45a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21488a45a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92825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21488a45a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21488a45a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22535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21488a45a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21488a45a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82247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21488a45a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21488a45a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33288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21488a45a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21488a45a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84705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21488a45a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21488a45a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88403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21488a45a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21488a45a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96507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21488a45a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21488a45a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09784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21488a45a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21488a45a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54628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21488a45a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21488a45a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71152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21488a45a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21488a45a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9456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54153BDD-27F0-905C-98F0-70D652F4D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21488a45a_0_775:notes">
            <a:extLst>
              <a:ext uri="{FF2B5EF4-FFF2-40B4-BE49-F238E27FC236}">
                <a16:creationId xmlns:a16="http://schemas.microsoft.com/office/drawing/2014/main" id="{B63D2A43-2D60-2EA0-FC16-9A01BBCA85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21488a45a_0_775:notes">
            <a:extLst>
              <a:ext uri="{FF2B5EF4-FFF2-40B4-BE49-F238E27FC236}">
                <a16:creationId xmlns:a16="http://schemas.microsoft.com/office/drawing/2014/main" id="{4E8FCADC-5F82-6A41-7106-006A9D8F5C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88640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21488a45a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21488a45a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17058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21488a45a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21488a45a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70855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21488a45a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21488a45a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94509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21488a45a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21488a45a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1353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671850" y="2314158"/>
            <a:ext cx="7800300" cy="126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it-IT" sz="3600" b="1" dirty="0" err="1">
                <a:latin typeface="Roboto Serif"/>
                <a:ea typeface="Roboto Serif"/>
                <a:cs typeface="Roboto Serif"/>
                <a:sym typeface="Roboto Serif"/>
              </a:rPr>
              <a:t>FakeNews</a:t>
            </a:r>
            <a:r>
              <a:rPr lang="it-IT" sz="3600" b="1" dirty="0">
                <a:latin typeface="Roboto Serif"/>
                <a:ea typeface="Roboto Serif"/>
                <a:cs typeface="Roboto Serif"/>
                <a:sym typeface="Roboto Serif"/>
              </a:rPr>
              <a:t> detector</a:t>
            </a:r>
            <a:br>
              <a:rPr lang="it-IT" sz="3600" b="1" dirty="0">
                <a:latin typeface="Roboto Serif"/>
                <a:ea typeface="Roboto Serif"/>
                <a:cs typeface="Roboto Serif"/>
                <a:sym typeface="Roboto Serif"/>
              </a:rPr>
            </a:br>
            <a:r>
              <a:rPr lang="it-IT" sz="1800" b="1" dirty="0">
                <a:latin typeface="Roboto Serif"/>
                <a:ea typeface="Roboto Serif"/>
                <a:cs typeface="Roboto Serif"/>
                <a:sym typeface="Roboto Serif"/>
              </a:rPr>
              <a:t>Machine Learning &amp; Data Mining</a:t>
            </a:r>
            <a:br>
              <a:rPr lang="it-IT" sz="1800" b="1" dirty="0">
                <a:latin typeface="Roboto Serif"/>
                <a:ea typeface="Roboto Serif"/>
                <a:cs typeface="Roboto Serif"/>
                <a:sym typeface="Roboto Serif"/>
              </a:rPr>
            </a:br>
            <a:r>
              <a:rPr lang="it-IT" sz="1800" b="1" dirty="0">
                <a:latin typeface="Roboto Serif"/>
                <a:ea typeface="Roboto Serif"/>
                <a:cs typeface="Roboto Serif"/>
                <a:sym typeface="Roboto Serif"/>
              </a:rPr>
              <a:t>A.Y. 2025-2026</a:t>
            </a:r>
            <a:endParaRPr sz="3600" b="1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72C317-F888-EB6E-D024-096B32A33D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700" y="4006316"/>
            <a:ext cx="8520600" cy="792600"/>
          </a:xfrm>
        </p:spPr>
        <p:txBody>
          <a:bodyPr/>
          <a:lstStyle/>
          <a:p>
            <a:r>
              <a:rPr lang="it-IT" sz="1600" dirty="0"/>
              <a:t>Alessio Grillo – Andrea Giacomazzi</a:t>
            </a:r>
          </a:p>
          <a:p>
            <a:endParaRPr lang="it-IT" dirty="0"/>
          </a:p>
        </p:txBody>
      </p:sp>
      <p:pic>
        <p:nvPicPr>
          <p:cNvPr id="13" name="Picture 12" descr="A blue and white logo&#10;&#10;AI-generated content may be incorrect.">
            <a:extLst>
              <a:ext uri="{FF2B5EF4-FFF2-40B4-BE49-F238E27FC236}">
                <a16:creationId xmlns:a16="http://schemas.microsoft.com/office/drawing/2014/main" id="{FE1EBBBA-4FED-9282-9F56-2CDD228AB1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358" b="15979"/>
          <a:stretch/>
        </p:blipFill>
        <p:spPr>
          <a:xfrm>
            <a:off x="3392934" y="264665"/>
            <a:ext cx="2358132" cy="16191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-IT" sz="3720" b="1" dirty="0">
                <a:latin typeface="Roboto Serif"/>
                <a:ea typeface="Roboto Serif"/>
                <a:cs typeface="Roboto Serif"/>
                <a:sym typeface="Roboto Serif"/>
              </a:rPr>
              <a:t>Problem</a:t>
            </a:r>
            <a:endParaRPr sz="3720" b="1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346750" y="1138425"/>
            <a:ext cx="8520600" cy="19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it-IT" b="1" dirty="0">
                <a:latin typeface="Open Sans"/>
                <a:ea typeface="Open Sans"/>
                <a:cs typeface="Open Sans"/>
                <a:sym typeface="Open Sans"/>
              </a:rPr>
              <a:t>Information overload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: Rapid spread of unverified digital content.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it-IT" b="1" dirty="0">
                <a:latin typeface="Open Sans"/>
                <a:ea typeface="Open Sans"/>
                <a:cs typeface="Open Sans"/>
                <a:sym typeface="Open Sans"/>
              </a:rPr>
              <a:t>Impact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: Polarization and manipulation of public opinion.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it-IT" b="1" dirty="0">
                <a:latin typeface="Open Sans"/>
                <a:ea typeface="Open Sans"/>
                <a:cs typeface="Open Sans"/>
                <a:sym typeface="Open Sans"/>
              </a:rPr>
              <a:t>Scalability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: Manual fact-checking is too slow for modern data volumes.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endParaRPr lang="it-IT" dirty="0"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it-IT" b="1" dirty="0">
                <a:latin typeface="Open Sans"/>
                <a:ea typeface="Open Sans"/>
                <a:cs typeface="Open Sans"/>
                <a:sym typeface="Open Sans"/>
              </a:rPr>
              <a:t>Goal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: Need for automated, real-time detection systems.</a:t>
            </a:r>
            <a:endParaRPr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latin typeface="Times New Roman"/>
                <a:ea typeface="Times New Roman"/>
                <a:cs typeface="Times New Roman"/>
                <a:sym typeface="Times New Roman"/>
              </a:rPr>
              <a:t>1/27</a:t>
            </a:r>
          </a:p>
        </p:txBody>
      </p:sp>
      <p:cxnSp>
        <p:nvCxnSpPr>
          <p:cNvPr id="69" name="Google Shape;69;p14"/>
          <p:cNvCxnSpPr/>
          <p:nvPr/>
        </p:nvCxnSpPr>
        <p:spPr>
          <a:xfrm>
            <a:off x="276600" y="789125"/>
            <a:ext cx="4295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-IT" sz="3720" b="1" dirty="0">
                <a:latin typeface="Roboto Serif"/>
                <a:ea typeface="Roboto Serif"/>
                <a:cs typeface="Roboto Serif"/>
                <a:sym typeface="Roboto Serif"/>
              </a:rPr>
              <a:t>Our proposal</a:t>
            </a:r>
            <a:endParaRPr sz="3720" b="1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346750" y="1138424"/>
            <a:ext cx="8520600" cy="26004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it-IT" b="1" dirty="0">
                <a:latin typeface="Open Sans"/>
                <a:ea typeface="Open Sans"/>
                <a:cs typeface="Open Sans"/>
                <a:sym typeface="Open Sans"/>
              </a:rPr>
              <a:t>Objective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: Develop a robust Machine Learning classifier to distinguish bewteen real and fake information.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it-IT" b="1" dirty="0">
                <a:latin typeface="Open Sans"/>
                <a:ea typeface="Open Sans"/>
                <a:cs typeface="Open Sans"/>
                <a:sym typeface="Open Sans"/>
              </a:rPr>
              <a:t>Approach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: Integrating Semantic Analysis with Stylometric Features.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it-IT" b="1" dirty="0">
                <a:latin typeface="Open Sans"/>
                <a:ea typeface="Open Sans"/>
                <a:cs typeface="Open Sans"/>
                <a:sym typeface="Open Sans"/>
              </a:rPr>
              <a:t>Explainability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: Using XAI techniques (SHAP and LIME) to make model’s decisions transparent.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endParaRPr lang="it-IT" dirty="0"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it-IT" b="1" dirty="0">
                <a:latin typeface="Open Sans"/>
                <a:ea typeface="Open Sans"/>
                <a:cs typeface="Open Sans"/>
                <a:sym typeface="Open Sans"/>
              </a:rPr>
              <a:t>Solution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: A functional application for real-time news assesment.</a:t>
            </a:r>
            <a:endParaRPr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latin typeface="Times New Roman"/>
                <a:ea typeface="Times New Roman"/>
                <a:cs typeface="Times New Roman"/>
                <a:sym typeface="Times New Roman"/>
              </a:rPr>
              <a:t>2/27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9" name="Google Shape;69;p14"/>
          <p:cNvCxnSpPr/>
          <p:nvPr/>
        </p:nvCxnSpPr>
        <p:spPr>
          <a:xfrm>
            <a:off x="276600" y="789125"/>
            <a:ext cx="4295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958146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-IT" sz="3720" b="1" dirty="0">
                <a:latin typeface="Roboto Serif"/>
                <a:ea typeface="Roboto Serif"/>
                <a:cs typeface="Roboto Serif"/>
                <a:sym typeface="Roboto Serif"/>
              </a:rPr>
              <a:t>Dataset &amp; EDA</a:t>
            </a:r>
            <a:endParaRPr sz="3720" b="1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311700" y="1085085"/>
            <a:ext cx="8520600" cy="12161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700" dirty="0">
                <a:latin typeface="Open Sans"/>
                <a:ea typeface="Open Sans"/>
                <a:cs typeface="Open Sans"/>
                <a:sym typeface="Open Sans"/>
              </a:rPr>
              <a:t>The dataset is </a:t>
            </a:r>
            <a:r>
              <a:rPr lang="en-US" sz="1700" b="1" dirty="0">
                <a:latin typeface="Open Sans"/>
                <a:ea typeface="Open Sans"/>
                <a:cs typeface="Open Sans"/>
                <a:sym typeface="Open Sans"/>
              </a:rPr>
              <a:t>WELFake</a:t>
            </a:r>
            <a:r>
              <a:rPr lang="en-US" sz="1700" dirty="0">
                <a:latin typeface="Open Sans"/>
                <a:ea typeface="Open Sans"/>
                <a:cs typeface="Open Sans"/>
                <a:sym typeface="Open Sans"/>
              </a:rPr>
              <a:t> and is present in Kaggle, it consists of 72,134 records, distributed across four primary features:</a:t>
            </a:r>
            <a:endParaRPr sz="17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latin typeface="Times New Roman"/>
                <a:ea typeface="Times New Roman"/>
                <a:cs typeface="Times New Roman"/>
                <a:sym typeface="Times New Roman"/>
              </a:rPr>
              <a:t>3/27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9" name="Google Shape;69;p14"/>
          <p:cNvCxnSpPr/>
          <p:nvPr/>
        </p:nvCxnSpPr>
        <p:spPr>
          <a:xfrm>
            <a:off x="276600" y="789125"/>
            <a:ext cx="4295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" name="Picture 10" descr="A black and white sign with black text&#10;&#10;AI-generated content may be incorrect.">
            <a:extLst>
              <a:ext uri="{FF2B5EF4-FFF2-40B4-BE49-F238E27FC236}">
                <a16:creationId xmlns:a16="http://schemas.microsoft.com/office/drawing/2014/main" id="{A057CF9C-F511-643E-31EC-ED0547FCF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575" y="2354580"/>
            <a:ext cx="6020849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062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-IT" sz="3720" b="1" dirty="0">
                <a:latin typeface="Roboto Serif"/>
                <a:ea typeface="Roboto Serif"/>
                <a:cs typeface="Roboto Serif"/>
                <a:sym typeface="Roboto Serif"/>
              </a:rPr>
              <a:t>Dataset &amp; EDA</a:t>
            </a:r>
            <a:endParaRPr sz="3720" b="1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latin typeface="Times New Roman"/>
                <a:ea typeface="Times New Roman"/>
                <a:cs typeface="Times New Roman"/>
                <a:sym typeface="Times New Roman"/>
              </a:rPr>
              <a:t>4/27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9" name="Google Shape;69;p14"/>
          <p:cNvCxnSpPr/>
          <p:nvPr/>
        </p:nvCxnSpPr>
        <p:spPr>
          <a:xfrm>
            <a:off x="276600" y="789125"/>
            <a:ext cx="4295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86501E-A9A8-74C5-4DD2-9725D418E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668705"/>
          </a:xfrm>
        </p:spPr>
        <p:txBody>
          <a:bodyPr>
            <a:normAutofit/>
          </a:bodyPr>
          <a:lstStyle/>
          <a:p>
            <a:r>
              <a:rPr lang="en-US" sz="1700" dirty="0">
                <a:latin typeface="Open Sans"/>
                <a:ea typeface="Open Sans"/>
                <a:cs typeface="Open Sans"/>
              </a:rPr>
              <a:t>The WELFake dataset is remarkably well-balanced</a:t>
            </a:r>
            <a:endParaRPr lang="it-IT" sz="1700" dirty="0">
              <a:latin typeface="Open Sans"/>
              <a:ea typeface="Open Sans"/>
              <a:cs typeface="Open Sans"/>
            </a:endParaRPr>
          </a:p>
        </p:txBody>
      </p:sp>
      <p:pic>
        <p:nvPicPr>
          <p:cNvPr id="7" name="Picture 6" descr="A red and blue rectangular bars&#10;&#10;AI-generated content may be incorrect.">
            <a:extLst>
              <a:ext uri="{FF2B5EF4-FFF2-40B4-BE49-F238E27FC236}">
                <a16:creationId xmlns:a16="http://schemas.microsoft.com/office/drawing/2014/main" id="{623AB9D7-0A4A-CEC2-4C1D-03F15BAF7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975" y="1626365"/>
            <a:ext cx="4266049" cy="3150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936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-IT" sz="3720" b="1" dirty="0">
                <a:latin typeface="Roboto Serif"/>
                <a:ea typeface="Roboto Serif"/>
                <a:cs typeface="Roboto Serif"/>
                <a:sym typeface="Roboto Serif"/>
              </a:rPr>
              <a:t>Dataset &amp; EDA</a:t>
            </a:r>
            <a:endParaRPr sz="3720" b="1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latin typeface="Times New Roman"/>
                <a:ea typeface="Times New Roman"/>
                <a:cs typeface="Times New Roman"/>
                <a:sym typeface="Times New Roman"/>
              </a:rPr>
              <a:t>5/27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9" name="Google Shape;69;p14"/>
          <p:cNvCxnSpPr/>
          <p:nvPr/>
        </p:nvCxnSpPr>
        <p:spPr>
          <a:xfrm>
            <a:off x="276600" y="789125"/>
            <a:ext cx="4295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86501E-A9A8-74C5-4DD2-9725D418E8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it-IT" sz="17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Unigram Frequency Analysis</a:t>
            </a:r>
          </a:p>
        </p:txBody>
      </p:sp>
      <p:pic>
        <p:nvPicPr>
          <p:cNvPr id="4" name="Picture 3" descr="A close-up of a graph&#10;&#10;AI-generated content may be incorrect.">
            <a:extLst>
              <a:ext uri="{FF2B5EF4-FFF2-40B4-BE49-F238E27FC236}">
                <a16:creationId xmlns:a16="http://schemas.microsoft.com/office/drawing/2014/main" id="{D0035677-451D-A274-BF34-7A837805EA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0000" y="1818017"/>
            <a:ext cx="6084000" cy="304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533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-IT" sz="3720" b="1" dirty="0">
                <a:latin typeface="Roboto Serif"/>
                <a:ea typeface="Roboto Serif"/>
                <a:cs typeface="Roboto Serif"/>
                <a:sym typeface="Roboto Serif"/>
              </a:rPr>
              <a:t>Dataset &amp; EDA</a:t>
            </a:r>
            <a:endParaRPr sz="3720" b="1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latin typeface="Times New Roman"/>
                <a:ea typeface="Times New Roman"/>
                <a:cs typeface="Times New Roman"/>
                <a:sym typeface="Times New Roman"/>
              </a:rPr>
              <a:t>6/27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9" name="Google Shape;69;p14"/>
          <p:cNvCxnSpPr/>
          <p:nvPr/>
        </p:nvCxnSpPr>
        <p:spPr>
          <a:xfrm>
            <a:off x="276600" y="789125"/>
            <a:ext cx="4295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86501E-A9A8-74C5-4DD2-9725D418E8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7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Bigram Frequency Analysis</a:t>
            </a:r>
          </a:p>
          <a:p>
            <a:endParaRPr lang="it-IT" dirty="0"/>
          </a:p>
        </p:txBody>
      </p:sp>
      <p:pic>
        <p:nvPicPr>
          <p:cNvPr id="4" name="Picture 3" descr="A comparison of a graph&#10;&#10;AI-generated content may be incorrect.">
            <a:extLst>
              <a:ext uri="{FF2B5EF4-FFF2-40B4-BE49-F238E27FC236}">
                <a16:creationId xmlns:a16="http://schemas.microsoft.com/office/drawing/2014/main" id="{F3FFB258-F66C-421F-C4D6-8545D8B1E6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0000" y="1818017"/>
            <a:ext cx="6084000" cy="304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075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-IT" sz="3720" b="1" dirty="0">
                <a:latin typeface="Roboto Serif"/>
                <a:ea typeface="Roboto Serif"/>
                <a:cs typeface="Roboto Serif"/>
                <a:sym typeface="Roboto Serif"/>
              </a:rPr>
              <a:t>Dataset &amp; EDA</a:t>
            </a:r>
            <a:endParaRPr sz="3720" b="1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latin typeface="Times New Roman"/>
                <a:ea typeface="Times New Roman"/>
                <a:cs typeface="Times New Roman"/>
                <a:sym typeface="Times New Roman"/>
              </a:rPr>
              <a:t>7/27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9" name="Google Shape;69;p14"/>
          <p:cNvCxnSpPr/>
          <p:nvPr/>
        </p:nvCxnSpPr>
        <p:spPr>
          <a:xfrm>
            <a:off x="276600" y="789125"/>
            <a:ext cx="4295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86501E-A9A8-74C5-4DD2-9725D418E8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it-IT" sz="17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Distribution of article’s body length</a:t>
            </a:r>
          </a:p>
        </p:txBody>
      </p:sp>
      <p:pic>
        <p:nvPicPr>
          <p:cNvPr id="4" name="Picture 3" descr="A graph showing the number of words&#10;&#10;AI-generated content may be incorrect.">
            <a:extLst>
              <a:ext uri="{FF2B5EF4-FFF2-40B4-BE49-F238E27FC236}">
                <a16:creationId xmlns:a16="http://schemas.microsoft.com/office/drawing/2014/main" id="{164678B1-411F-9FC4-443D-0EDC2685D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4000" y="1810752"/>
            <a:ext cx="5796000" cy="304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468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-IT" sz="3720" b="1" dirty="0">
                <a:latin typeface="Roboto Serif"/>
                <a:ea typeface="Roboto Serif"/>
                <a:cs typeface="Roboto Serif"/>
                <a:sym typeface="Roboto Serif"/>
              </a:rPr>
              <a:t>Dataset &amp; EDA</a:t>
            </a:r>
            <a:endParaRPr sz="3720" b="1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latin typeface="Times New Roman"/>
                <a:ea typeface="Times New Roman"/>
                <a:cs typeface="Times New Roman"/>
                <a:sym typeface="Times New Roman"/>
              </a:rPr>
              <a:t>8/27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9" name="Google Shape;69;p14"/>
          <p:cNvCxnSpPr/>
          <p:nvPr/>
        </p:nvCxnSpPr>
        <p:spPr>
          <a:xfrm>
            <a:off x="276600" y="789125"/>
            <a:ext cx="4295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86501E-A9A8-74C5-4DD2-9725D418E8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it-IT" sz="17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Uppercase ratio in titles and exclamation marks in article’s body</a:t>
            </a:r>
          </a:p>
        </p:txBody>
      </p:sp>
      <p:pic>
        <p:nvPicPr>
          <p:cNvPr id="4" name="Picture 3" descr="A comparison of a diagram&#10;&#10;AI-generated content may be incorrect.">
            <a:extLst>
              <a:ext uri="{FF2B5EF4-FFF2-40B4-BE49-F238E27FC236}">
                <a16:creationId xmlns:a16="http://schemas.microsoft.com/office/drawing/2014/main" id="{8DB3E9E7-FD30-4B76-2B6F-BB91229A5C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661" y="1893498"/>
            <a:ext cx="6462677" cy="2769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671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-IT" sz="3720" b="1" dirty="0">
                <a:latin typeface="Roboto Serif"/>
                <a:ea typeface="Roboto Serif"/>
                <a:cs typeface="Roboto Serif"/>
                <a:sym typeface="Roboto Serif"/>
              </a:rPr>
              <a:t>Data preprocessing</a:t>
            </a:r>
            <a:endParaRPr sz="3720" b="1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311700" y="1655798"/>
            <a:ext cx="8520600" cy="19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r>
              <a:rPr lang="en-US" sz="1700" b="1" i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Handling Missing Values:</a:t>
            </a:r>
            <a:r>
              <a:rPr lang="en-US" sz="1700" b="0" i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Entries with null values in the title or text</a:t>
            </a:r>
            <a:r>
              <a:rPr lang="en-US" sz="17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700" b="0" i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fields were identified. Given the size of the dataset, these rows were removed to maintain a high-quality corpus.</a:t>
            </a:r>
          </a:p>
          <a:p>
            <a:r>
              <a:rPr lang="en-US" sz="1700" b="1" i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Feature Integration: </a:t>
            </a:r>
            <a:r>
              <a:rPr lang="en-US" sz="1700" b="0" i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performed a horizontal integration of the</a:t>
            </a:r>
            <a:r>
              <a:rPr lang="en-US" sz="17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700" b="0" i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title and text columns. This creates a unified ”content” feature, allowin</a:t>
            </a:r>
            <a:r>
              <a:rPr lang="en-US" sz="17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 </a:t>
            </a:r>
            <a:r>
              <a:rPr lang="en-US" sz="1700" b="0" i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model to analyze headlines (often rich in clickbait patterns) alongside the full body of the article</a:t>
            </a:r>
            <a:endParaRPr lang="en-US" sz="1700" dirty="0"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dirty="0"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endParaRPr lang="it-IT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latin typeface="Times New Roman"/>
                <a:ea typeface="Times New Roman"/>
                <a:cs typeface="Times New Roman"/>
                <a:sym typeface="Times New Roman"/>
              </a:rPr>
              <a:t>9/27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9" name="Google Shape;69;p14"/>
          <p:cNvCxnSpPr/>
          <p:nvPr/>
        </p:nvCxnSpPr>
        <p:spPr>
          <a:xfrm>
            <a:off x="276600" y="789125"/>
            <a:ext cx="4295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66;p14">
            <a:extLst>
              <a:ext uri="{FF2B5EF4-FFF2-40B4-BE49-F238E27FC236}">
                <a16:creationId xmlns:a16="http://schemas.microsoft.com/office/drawing/2014/main" id="{554C9706-350E-2CDE-547D-26DCC41C2A04}"/>
              </a:ext>
            </a:extLst>
          </p:cNvPr>
          <p:cNvSpPr txBox="1">
            <a:spLocks/>
          </p:cNvSpPr>
          <p:nvPr/>
        </p:nvSpPr>
        <p:spPr>
          <a:xfrm>
            <a:off x="311700" y="101198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990"/>
            </a:pPr>
            <a:r>
              <a:rPr lang="it-IT" sz="2000" b="1" dirty="0">
                <a:latin typeface="Roboto Serif"/>
                <a:ea typeface="Roboto Serif"/>
                <a:cs typeface="Roboto Serif"/>
                <a:sym typeface="Roboto Serif"/>
              </a:rPr>
              <a:t>Data Cleaning and Data Integration</a:t>
            </a:r>
          </a:p>
        </p:txBody>
      </p:sp>
    </p:spTree>
    <p:extLst>
      <p:ext uri="{BB962C8B-B14F-4D97-AF65-F5344CB8AC3E}">
        <p14:creationId xmlns:p14="http://schemas.microsoft.com/office/powerpoint/2010/main" val="1789059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-IT" sz="3720" b="1" dirty="0">
                <a:latin typeface="Roboto Serif"/>
                <a:ea typeface="Roboto Serif"/>
                <a:cs typeface="Roboto Serif"/>
                <a:sym typeface="Roboto Serif"/>
              </a:rPr>
              <a:t>Data preprocessing</a:t>
            </a:r>
            <a:endParaRPr sz="3720" b="1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311700" y="1655798"/>
            <a:ext cx="8520600" cy="19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700" b="1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Lexical Casing</a:t>
            </a:r>
            <a:r>
              <a:rPr lang="en-US" sz="17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We calculated the percentage of uppercase words. High frequencies of capitalized text are a common proxy for sensationalism.</a:t>
            </a:r>
          </a:p>
          <a:p>
            <a:r>
              <a:rPr lang="en-US" sz="1700" b="1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Article Volumetry</a:t>
            </a:r>
            <a:r>
              <a:rPr lang="en-US" sz="17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We integrated the size of the article (total word count), as fake news often lacks the depth and length of authentic journalism.</a:t>
            </a:r>
          </a:p>
          <a:p>
            <a:r>
              <a:rPr lang="en-US" sz="1700" b="1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Linguistic Integrity</a:t>
            </a:r>
            <a:r>
              <a:rPr lang="en-US" sz="17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A dedicated module quantified the number of spelling errors, distinguishing professionally edited news from unverified content.</a:t>
            </a:r>
          </a:p>
          <a:p>
            <a:r>
              <a:rPr lang="en-US" sz="1700" b="1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Punctuation Analysis</a:t>
            </a:r>
            <a:r>
              <a:rPr lang="en-US" sz="17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We tracked the density of exclamation (!) and question marks (?) to detect inflammatory or non-neutral rhetoric.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endParaRPr lang="it-IT" sz="17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latin typeface="Times New Roman"/>
                <a:ea typeface="Times New Roman"/>
                <a:cs typeface="Times New Roman"/>
                <a:sym typeface="Times New Roman"/>
              </a:rPr>
              <a:t>11/27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9" name="Google Shape;69;p14"/>
          <p:cNvCxnSpPr/>
          <p:nvPr/>
        </p:nvCxnSpPr>
        <p:spPr>
          <a:xfrm>
            <a:off x="276600" y="789125"/>
            <a:ext cx="4295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66;p14">
            <a:extLst>
              <a:ext uri="{FF2B5EF4-FFF2-40B4-BE49-F238E27FC236}">
                <a16:creationId xmlns:a16="http://schemas.microsoft.com/office/drawing/2014/main" id="{554C9706-350E-2CDE-547D-26DCC41C2A04}"/>
              </a:ext>
            </a:extLst>
          </p:cNvPr>
          <p:cNvSpPr txBox="1">
            <a:spLocks/>
          </p:cNvSpPr>
          <p:nvPr/>
        </p:nvSpPr>
        <p:spPr>
          <a:xfrm>
            <a:off x="311700" y="101198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990"/>
            </a:pPr>
            <a:r>
              <a:rPr lang="it-IT" sz="2000" b="1" dirty="0">
                <a:latin typeface="Roboto Serif"/>
                <a:ea typeface="Roboto Serif"/>
                <a:cs typeface="Roboto Serif"/>
                <a:sym typeface="Roboto Serif"/>
              </a:rPr>
              <a:t>Stylometric Feature Engineering</a:t>
            </a:r>
          </a:p>
        </p:txBody>
      </p:sp>
    </p:spTree>
    <p:extLst>
      <p:ext uri="{BB962C8B-B14F-4D97-AF65-F5344CB8AC3E}">
        <p14:creationId xmlns:p14="http://schemas.microsoft.com/office/powerpoint/2010/main" val="1934266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-IT" sz="3720" b="1" dirty="0">
                <a:latin typeface="Roboto Serif"/>
                <a:ea typeface="Roboto Serif"/>
                <a:cs typeface="Roboto Serif"/>
                <a:sym typeface="Roboto Serif"/>
              </a:rPr>
              <a:t>Data preprocessing</a:t>
            </a:r>
            <a:endParaRPr sz="3720" b="1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311700" y="1577250"/>
            <a:ext cx="8520600" cy="19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b="1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Noise Removal</a:t>
            </a:r>
            <a:r>
              <a:rPr lang="en-US" sz="16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We stripped non-alphanumeric characters using regular expressions.</a:t>
            </a:r>
          </a:p>
          <a:p>
            <a:r>
              <a:rPr lang="en-US" sz="1600" b="1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Case Folding</a:t>
            </a:r>
            <a:r>
              <a:rPr lang="en-US" sz="16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All text was converted to lowercase to unify the vocabulary.</a:t>
            </a:r>
          </a:p>
          <a:p>
            <a:r>
              <a:rPr lang="en-US" sz="1600" b="1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Tokenization</a:t>
            </a:r>
            <a:r>
              <a:rPr lang="en-US" sz="16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The clean text was segmented into individual tokens (words), which serve as the fundamental units for the subsequent vectorization.</a:t>
            </a:r>
          </a:p>
          <a:p>
            <a:r>
              <a:rPr lang="en-US" sz="1600" b="1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Lemmatization</a:t>
            </a:r>
            <a:r>
              <a:rPr lang="en-US" sz="16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To group inflected forms of words, tokens were reduced to their morphological roots (e.g., ”running” to ”run”), thereby reducing the dimensionality of the feature space without losing semantic meaning.</a:t>
            </a:r>
          </a:p>
          <a:p>
            <a:r>
              <a:rPr lang="en-US" sz="1600" b="1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Custom </a:t>
            </a:r>
            <a:r>
              <a:rPr lang="en-US" sz="1600" b="1" dirty="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Stopword</a:t>
            </a:r>
            <a:r>
              <a:rPr lang="en-US" sz="1600" b="1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Elimination</a:t>
            </a:r>
            <a:r>
              <a:rPr lang="en-US" sz="16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Beyond standard English </a:t>
            </a:r>
            <a:r>
              <a:rPr lang="en-US" sz="1600" dirty="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stopwords</a:t>
            </a: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(e.g., ”of”, ”the”, ”in”), we implemented a targeted exclusion list based on our exploratory N-gram analysis.</a:t>
            </a:r>
            <a:endParaRPr lang="it-IT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latin typeface="Times New Roman"/>
                <a:ea typeface="Times New Roman"/>
                <a:cs typeface="Times New Roman"/>
                <a:sym typeface="Times New Roman"/>
              </a:rPr>
              <a:t>13/27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9" name="Google Shape;69;p14"/>
          <p:cNvCxnSpPr/>
          <p:nvPr/>
        </p:nvCxnSpPr>
        <p:spPr>
          <a:xfrm>
            <a:off x="276600" y="789125"/>
            <a:ext cx="4295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66;p14">
            <a:extLst>
              <a:ext uri="{FF2B5EF4-FFF2-40B4-BE49-F238E27FC236}">
                <a16:creationId xmlns:a16="http://schemas.microsoft.com/office/drawing/2014/main" id="{554C9706-350E-2CDE-547D-26DCC41C2A04}"/>
              </a:ext>
            </a:extLst>
          </p:cNvPr>
          <p:cNvSpPr txBox="1">
            <a:spLocks/>
          </p:cNvSpPr>
          <p:nvPr/>
        </p:nvSpPr>
        <p:spPr>
          <a:xfrm>
            <a:off x="311700" y="101198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990"/>
            </a:pPr>
            <a:r>
              <a:rPr lang="en-US" sz="2000" b="1" dirty="0">
                <a:latin typeface="Roboto Serif"/>
                <a:ea typeface="Roboto Serif"/>
                <a:cs typeface="Roboto Serif"/>
                <a:sym typeface="Roboto Serif"/>
              </a:rPr>
              <a:t>Text Normalization, Tokenization, and Leak-age Prevention</a:t>
            </a:r>
            <a:endParaRPr lang="it-IT" sz="2000" b="1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  <p:extLst>
      <p:ext uri="{BB962C8B-B14F-4D97-AF65-F5344CB8AC3E}">
        <p14:creationId xmlns:p14="http://schemas.microsoft.com/office/powerpoint/2010/main" val="2344727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-IT" sz="3720" b="1" dirty="0">
                <a:latin typeface="Roboto Serif"/>
                <a:ea typeface="Roboto Serif"/>
                <a:cs typeface="Roboto Serif"/>
                <a:sym typeface="Roboto Serif"/>
              </a:rPr>
              <a:t>Data preprocessing</a:t>
            </a:r>
            <a:endParaRPr sz="3720" b="1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311699" y="1655797"/>
            <a:ext cx="8770423" cy="30074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r>
              <a:rPr lang="en-US" sz="1700" b="1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Configuration</a:t>
            </a:r>
            <a:r>
              <a:rPr lang="en-US" sz="17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 TF-IDF using 10,000 features (Unigrams &amp; Bigrams).</a:t>
            </a:r>
          </a:p>
          <a:p>
            <a:r>
              <a:rPr lang="en-US" sz="1700" b="1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Dimensionality Control</a:t>
            </a:r>
            <a:r>
              <a:rPr lang="en-US" sz="17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 </a:t>
            </a:r>
          </a:p>
          <a:p>
            <a:pPr lvl="1"/>
            <a:r>
              <a:rPr lang="en-US" sz="17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Mitigates the "Curse of Dimensionality".</a:t>
            </a:r>
          </a:p>
          <a:p>
            <a:pPr lvl="1"/>
            <a:r>
              <a:rPr lang="en-US" sz="17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Optimizes the data-to-feature ratio for 72,095 samples.</a:t>
            </a:r>
          </a:p>
          <a:p>
            <a:pPr lvl="1"/>
            <a:r>
              <a:rPr lang="en-US" sz="17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Prevents statistical sparsity and improves class separability.</a:t>
            </a:r>
          </a:p>
          <a:p>
            <a:r>
              <a:rPr lang="en-US" sz="1700" b="1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Noise Reduction</a:t>
            </a:r>
            <a:r>
              <a:rPr lang="en-US" sz="17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 Focuses on high-signal linguistic patterns to minimize overfitting.</a:t>
            </a:r>
          </a:p>
          <a:p>
            <a:r>
              <a:rPr lang="en-US" sz="1700" b="1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Experimental Integrity</a:t>
            </a:r>
            <a:r>
              <a:rPr lang="en-US" sz="17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</a:p>
          <a:p>
            <a:pPr lvl="1"/>
            <a:r>
              <a:rPr lang="en-US" sz="17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Vectorizer fitted exclusively on training folds.</a:t>
            </a:r>
          </a:p>
          <a:p>
            <a:pPr lvl="1"/>
            <a:r>
              <a:rPr lang="en-US" sz="17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Zero-knowledge approach for validation/test sets to prevent Data Leakage.</a:t>
            </a:r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latin typeface="Times New Roman"/>
                <a:ea typeface="Times New Roman"/>
                <a:cs typeface="Times New Roman"/>
                <a:sym typeface="Times New Roman"/>
              </a:rPr>
              <a:t>16/27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9" name="Google Shape;69;p14"/>
          <p:cNvCxnSpPr/>
          <p:nvPr/>
        </p:nvCxnSpPr>
        <p:spPr>
          <a:xfrm>
            <a:off x="276600" y="789125"/>
            <a:ext cx="4295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66;p14">
            <a:extLst>
              <a:ext uri="{FF2B5EF4-FFF2-40B4-BE49-F238E27FC236}">
                <a16:creationId xmlns:a16="http://schemas.microsoft.com/office/drawing/2014/main" id="{554C9706-350E-2CDE-547D-26DCC41C2A04}"/>
              </a:ext>
            </a:extLst>
          </p:cNvPr>
          <p:cNvSpPr txBox="1">
            <a:spLocks/>
          </p:cNvSpPr>
          <p:nvPr/>
        </p:nvSpPr>
        <p:spPr>
          <a:xfrm>
            <a:off x="311700" y="101198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990"/>
            </a:pPr>
            <a:r>
              <a:rPr lang="it-IT" sz="2000" b="1" dirty="0">
                <a:latin typeface="Roboto Serif"/>
                <a:ea typeface="Roboto Serif"/>
                <a:cs typeface="Roboto Serif"/>
                <a:sym typeface="Roboto Serif"/>
              </a:rPr>
              <a:t>Vectorization: 10,000 TF-IDF Features</a:t>
            </a:r>
          </a:p>
        </p:txBody>
      </p:sp>
    </p:spTree>
    <p:extLst>
      <p:ext uri="{BB962C8B-B14F-4D97-AF65-F5344CB8AC3E}">
        <p14:creationId xmlns:p14="http://schemas.microsoft.com/office/powerpoint/2010/main" val="38097728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-IT" sz="3720" b="1" dirty="0">
                <a:latin typeface="Roboto Serif"/>
                <a:ea typeface="Roboto Serif"/>
                <a:cs typeface="Roboto Serif"/>
                <a:sym typeface="Roboto Serif"/>
              </a:rPr>
              <a:t>Data preprocessing</a:t>
            </a:r>
            <a:endParaRPr sz="3720" b="1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311699" y="1545796"/>
            <a:ext cx="8832301" cy="32874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500" b="1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Objective</a:t>
            </a:r>
            <a:r>
              <a:rPr lang="en-US" sz="15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 Harmonize stylometric features (e.g., text length, punctuation) with TF-IDF vectors.</a:t>
            </a:r>
          </a:p>
          <a:p>
            <a:r>
              <a:rPr lang="en-US" sz="1500" b="1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Normalization</a:t>
            </a:r>
            <a:r>
              <a:rPr lang="en-US" sz="15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</a:p>
          <a:p>
            <a:pPr lvl="1"/>
            <a:r>
              <a:rPr lang="en-US" sz="15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Applied </a:t>
            </a:r>
            <a:r>
              <a:rPr lang="en-US" sz="1500" dirty="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MinMaxScaler</a:t>
            </a:r>
            <a:r>
              <a:rPr lang="en-US" sz="15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to map all features to a fixed [0, 1] range.</a:t>
            </a:r>
          </a:p>
          <a:p>
            <a:pPr lvl="1"/>
            <a:r>
              <a:rPr lang="en-US" sz="15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Prevents high-magnitude variables (character counts) from biasing the model.</a:t>
            </a:r>
          </a:p>
          <a:p>
            <a:pPr lvl="1"/>
            <a:r>
              <a:rPr lang="en-US" sz="15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Aligns stylistic data with the inherently normalized TF-IDF scale.</a:t>
            </a:r>
          </a:p>
          <a:p>
            <a:r>
              <a:rPr lang="en-US" sz="1500" b="1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Methodological Rigor</a:t>
            </a:r>
            <a:r>
              <a:rPr lang="en-US" sz="15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/>
            <a:r>
              <a:rPr lang="en-US" sz="15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Followed a "Zero-Knowledge" approach.</a:t>
            </a:r>
          </a:p>
          <a:p>
            <a:pPr lvl="1"/>
            <a:r>
              <a:rPr lang="en-US" sz="15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Scaling parameters (min, max) were fitted only on training folds to prevent data leakage.</a:t>
            </a:r>
          </a:p>
          <a:p>
            <a:r>
              <a:rPr lang="en-US" sz="1500" b="1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Feature Fusion</a:t>
            </a:r>
            <a:r>
              <a:rPr lang="en-US" sz="15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Horizontal concatenation of the 5D stylistic vector and the sparse TF-IDF matrix to create the final feature set.</a:t>
            </a:r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latin typeface="Times New Roman"/>
                <a:ea typeface="Times New Roman"/>
                <a:cs typeface="Times New Roman"/>
                <a:sym typeface="Times New Roman"/>
              </a:rPr>
              <a:t>17/27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9" name="Google Shape;69;p14"/>
          <p:cNvCxnSpPr/>
          <p:nvPr/>
        </p:nvCxnSpPr>
        <p:spPr>
          <a:xfrm>
            <a:off x="276600" y="789125"/>
            <a:ext cx="4295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66;p14">
            <a:extLst>
              <a:ext uri="{FF2B5EF4-FFF2-40B4-BE49-F238E27FC236}">
                <a16:creationId xmlns:a16="http://schemas.microsoft.com/office/drawing/2014/main" id="{554C9706-350E-2CDE-547D-26DCC41C2A04}"/>
              </a:ext>
            </a:extLst>
          </p:cNvPr>
          <p:cNvSpPr txBox="1">
            <a:spLocks/>
          </p:cNvSpPr>
          <p:nvPr/>
        </p:nvSpPr>
        <p:spPr>
          <a:xfrm>
            <a:off x="311700" y="101198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990"/>
            </a:pPr>
            <a:r>
              <a:rPr lang="it-IT" sz="2000" b="1" dirty="0">
                <a:latin typeface="Roboto Serif"/>
                <a:ea typeface="Roboto Serif"/>
                <a:cs typeface="Roboto Serif"/>
                <a:sym typeface="Roboto Serif"/>
              </a:rPr>
              <a:t>Feature Integration &amp; Scaling</a:t>
            </a:r>
          </a:p>
        </p:txBody>
      </p:sp>
    </p:spTree>
    <p:extLst>
      <p:ext uri="{BB962C8B-B14F-4D97-AF65-F5344CB8AC3E}">
        <p14:creationId xmlns:p14="http://schemas.microsoft.com/office/powerpoint/2010/main" val="2885266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-IT" sz="3720" b="1" dirty="0">
                <a:latin typeface="Roboto Serif"/>
                <a:ea typeface="Roboto Serif"/>
                <a:cs typeface="Roboto Serif"/>
                <a:sym typeface="Roboto Serif"/>
              </a:rPr>
              <a:t>Models evaluation</a:t>
            </a:r>
            <a:endParaRPr sz="3720" b="1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346750" y="1138425"/>
            <a:ext cx="8520600" cy="19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>
              <a:lnSpc>
                <a:spcPct val="150000"/>
              </a:lnSpc>
              <a:buFont typeface="Times New Roman"/>
              <a:buChar char="●"/>
            </a:pPr>
            <a:r>
              <a:rPr lang="it-IT" b="1" dirty="0">
                <a:latin typeface="Open Sans"/>
                <a:ea typeface="Open Sans"/>
                <a:cs typeface="Open Sans"/>
              </a:rPr>
              <a:t>Dataset Split: </a:t>
            </a:r>
            <a:r>
              <a:rPr lang="it-IT">
                <a:latin typeface="Open Sans"/>
                <a:ea typeface="Open Sans"/>
                <a:cs typeface="Open Sans"/>
              </a:rPr>
              <a:t>80% Training set and 20% Test set.</a:t>
            </a:r>
            <a:r>
              <a:rPr lang="it-IT" dirty="0">
                <a:latin typeface="Open Sans"/>
                <a:ea typeface="Open Sans"/>
                <a:cs typeface="Open Sans"/>
              </a:rPr>
              <a:t> </a:t>
            </a:r>
            <a:endParaRPr lang="it-IT" b="1" dirty="0">
              <a:latin typeface="Open Sans"/>
              <a:ea typeface="Open Sans"/>
              <a:cs typeface="Open Sans"/>
            </a:endParaRPr>
          </a:p>
          <a:p>
            <a:pPr marL="457200" lvl="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it-IT" b="1" dirty="0" err="1">
                <a:latin typeface="Open Sans"/>
                <a:ea typeface="Open Sans"/>
                <a:cs typeface="Open Sans"/>
                <a:sym typeface="Open Sans"/>
              </a:rPr>
              <a:t>Validation</a:t>
            </a:r>
            <a:r>
              <a:rPr lang="it-IT" b="1" dirty="0">
                <a:latin typeface="Open Sans"/>
                <a:ea typeface="Open Sans"/>
                <a:cs typeface="Open Sans"/>
                <a:sym typeface="Open Sans"/>
              </a:rPr>
              <a:t> Strategy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it-IT" dirty="0" err="1">
                <a:latin typeface="Open Sans"/>
                <a:ea typeface="Open Sans"/>
                <a:cs typeface="Open Sans"/>
                <a:sym typeface="Open Sans"/>
              </a:rPr>
              <a:t>Stratified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 10-Fold Cross-</a:t>
            </a:r>
            <a:r>
              <a:rPr lang="it-IT" dirty="0" err="1">
                <a:latin typeface="Open Sans"/>
                <a:ea typeface="Open Sans"/>
                <a:cs typeface="Open Sans"/>
                <a:sym typeface="Open Sans"/>
              </a:rPr>
              <a:t>Validation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lang="it-IT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it-IT" b="1" dirty="0" err="1">
                <a:latin typeface="Open Sans"/>
                <a:ea typeface="Open Sans"/>
                <a:cs typeface="Open Sans"/>
                <a:sym typeface="Open Sans"/>
              </a:rPr>
              <a:t>Algorithms</a:t>
            </a:r>
            <a:r>
              <a:rPr lang="it-IT" b="1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it-IT" b="1" dirty="0" err="1">
                <a:latin typeface="Open Sans"/>
                <a:ea typeface="Open Sans"/>
                <a:cs typeface="Open Sans"/>
                <a:sym typeface="Open Sans"/>
              </a:rPr>
              <a:t>Tested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it-IT" dirty="0" err="1">
                <a:latin typeface="Open Sans"/>
                <a:ea typeface="Open Sans"/>
                <a:cs typeface="Open Sans"/>
                <a:sym typeface="Open Sans"/>
              </a:rPr>
              <a:t>Logistic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it-IT" dirty="0" err="1">
                <a:latin typeface="Open Sans"/>
                <a:ea typeface="Open Sans"/>
                <a:cs typeface="Open Sans"/>
                <a:sym typeface="Open Sans"/>
              </a:rPr>
              <a:t>Regression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, SVM, Random Forest, </a:t>
            </a:r>
            <a:r>
              <a:rPr lang="it-IT" dirty="0" err="1">
                <a:latin typeface="Open Sans"/>
                <a:ea typeface="Open Sans"/>
                <a:cs typeface="Open Sans"/>
                <a:sym typeface="Open Sans"/>
              </a:rPr>
              <a:t>AdaBoost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it-IT" dirty="0" err="1">
                <a:latin typeface="Open Sans"/>
                <a:ea typeface="Open Sans"/>
                <a:cs typeface="Open Sans"/>
                <a:sym typeface="Open Sans"/>
              </a:rPr>
              <a:t>LightGBM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it-IT" b="1" dirty="0">
                <a:latin typeface="Open Sans"/>
                <a:ea typeface="Open Sans"/>
                <a:cs typeface="Open Sans"/>
                <a:sym typeface="Open Sans"/>
              </a:rPr>
              <a:t>Winner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it-IT" dirty="0" err="1">
                <a:latin typeface="Open Sans"/>
                <a:ea typeface="Open Sans"/>
                <a:cs typeface="Open Sans"/>
                <a:sym typeface="Open Sans"/>
              </a:rPr>
              <a:t>LightGBM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 (F1-Score: 0.971, </a:t>
            </a:r>
            <a:r>
              <a:rPr lang="it-IT" dirty="0" err="1">
                <a:latin typeface="Open Sans"/>
                <a:ea typeface="Open Sans"/>
                <a:cs typeface="Open Sans"/>
                <a:sym typeface="Open Sans"/>
              </a:rPr>
              <a:t>Accuracy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: 0.970).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it-IT" b="1" dirty="0">
                <a:latin typeface="Open Sans"/>
                <a:ea typeface="Open Sans"/>
                <a:cs typeface="Open Sans"/>
                <a:sym typeface="Open Sans"/>
              </a:rPr>
              <a:t>Why </a:t>
            </a:r>
            <a:r>
              <a:rPr lang="it-IT" b="1" dirty="0" err="1">
                <a:latin typeface="Open Sans"/>
                <a:ea typeface="Open Sans"/>
                <a:cs typeface="Open Sans"/>
                <a:sym typeface="Open Sans"/>
              </a:rPr>
              <a:t>LightGBM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? Best balance </a:t>
            </a:r>
            <a:r>
              <a:rPr lang="it-IT" dirty="0" err="1">
                <a:latin typeface="Open Sans"/>
                <a:ea typeface="Open Sans"/>
                <a:cs typeface="Open Sans"/>
                <a:sym typeface="Open Sans"/>
              </a:rPr>
              <a:t>between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 speed, </a:t>
            </a:r>
            <a:r>
              <a:rPr lang="it-IT" dirty="0" err="1">
                <a:latin typeface="Open Sans"/>
                <a:ea typeface="Open Sans"/>
                <a:cs typeface="Open Sans"/>
                <a:sym typeface="Open Sans"/>
              </a:rPr>
              <a:t>precision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, and </a:t>
            </a:r>
            <a:r>
              <a:rPr lang="it-IT" dirty="0" err="1">
                <a:latin typeface="Open Sans"/>
                <a:ea typeface="Open Sans"/>
                <a:cs typeface="Open Sans"/>
                <a:sym typeface="Open Sans"/>
              </a:rPr>
              <a:t>handling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 of </a:t>
            </a:r>
            <a:r>
              <a:rPr lang="it-IT" dirty="0" err="1">
                <a:latin typeface="Open Sans"/>
                <a:ea typeface="Open Sans"/>
                <a:cs typeface="Open Sans"/>
                <a:sym typeface="Open Sans"/>
              </a:rPr>
              <a:t>our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 high-</a:t>
            </a:r>
            <a:r>
              <a:rPr lang="it-IT" dirty="0" err="1">
                <a:latin typeface="Open Sans"/>
                <a:ea typeface="Open Sans"/>
                <a:cs typeface="Open Sans"/>
                <a:sym typeface="Open Sans"/>
              </a:rPr>
              <a:t>dimensional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 features (TF-IDF).</a:t>
            </a:r>
            <a:endParaRPr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latin typeface="Times New Roman"/>
                <a:ea typeface="Times New Roman"/>
                <a:cs typeface="Times New Roman"/>
                <a:sym typeface="Times New Roman"/>
              </a:rPr>
              <a:t>19/27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9" name="Google Shape;69;p14"/>
          <p:cNvCxnSpPr/>
          <p:nvPr/>
        </p:nvCxnSpPr>
        <p:spPr>
          <a:xfrm>
            <a:off x="276600" y="789125"/>
            <a:ext cx="4295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2202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-IT" sz="3720" b="1" dirty="0">
                <a:latin typeface="Roboto Serif"/>
                <a:ea typeface="Roboto Serif"/>
                <a:cs typeface="Roboto Serif"/>
                <a:sym typeface="Roboto Serif"/>
              </a:rPr>
              <a:t>Models evaluation</a:t>
            </a:r>
            <a:endParaRPr sz="3720" b="1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latin typeface="Times New Roman"/>
                <a:ea typeface="Times New Roman"/>
                <a:cs typeface="Times New Roman"/>
                <a:sym typeface="Times New Roman"/>
              </a:rPr>
              <a:t>21/27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9" name="Google Shape;69;p14"/>
          <p:cNvCxnSpPr/>
          <p:nvPr/>
        </p:nvCxnSpPr>
        <p:spPr>
          <a:xfrm>
            <a:off x="276600" y="789125"/>
            <a:ext cx="4295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Immagine 2" descr="Immagine che contiene schermata, testo, quadrato, Rettangolo&#10;&#10;Il contenuto generato dall&amp;#39;IA potrebbe non essere corretto.">
            <a:extLst>
              <a:ext uri="{FF2B5EF4-FFF2-40B4-BE49-F238E27FC236}">
                <a16:creationId xmlns:a16="http://schemas.microsoft.com/office/drawing/2014/main" id="{821CDB63-EF4B-74FF-6497-5AC7CD352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6970" y="829849"/>
            <a:ext cx="6176115" cy="4243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554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-IT" sz="3720" b="1" dirty="0">
                <a:latin typeface="Roboto Serif"/>
                <a:ea typeface="Roboto Serif"/>
                <a:cs typeface="Roboto Serif"/>
                <a:sym typeface="Roboto Serif"/>
              </a:rPr>
              <a:t>Models evaluation</a:t>
            </a:r>
            <a:endParaRPr sz="3720" b="1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latin typeface="Times New Roman"/>
                <a:ea typeface="Times New Roman"/>
                <a:cs typeface="Times New Roman"/>
                <a:sym typeface="Times New Roman"/>
              </a:rPr>
              <a:t>20/27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9" name="Google Shape;69;p14"/>
          <p:cNvCxnSpPr/>
          <p:nvPr/>
        </p:nvCxnSpPr>
        <p:spPr>
          <a:xfrm>
            <a:off x="276600" y="789125"/>
            <a:ext cx="4295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Picture 2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B9786BB9-5803-876E-DDEB-90AF2C083B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934" y="1456985"/>
            <a:ext cx="7394132" cy="222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2818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-IT" sz="3720" b="1" dirty="0">
                <a:latin typeface="Roboto Serif"/>
                <a:ea typeface="Roboto Serif"/>
                <a:cs typeface="Roboto Serif"/>
                <a:sym typeface="Roboto Serif"/>
              </a:rPr>
              <a:t>LightGBM optimization</a:t>
            </a:r>
            <a:endParaRPr sz="3720" b="1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346750" y="1138425"/>
            <a:ext cx="8520600" cy="19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>
              <a:lnSpc>
                <a:spcPct val="150000"/>
              </a:lnSpc>
              <a:buFont typeface="Times New Roman"/>
              <a:buChar char="●"/>
            </a:pPr>
            <a:r>
              <a:rPr lang="it-IT" b="1" dirty="0">
                <a:latin typeface="Open Sans"/>
                <a:ea typeface="Open Sans"/>
                <a:cs typeface="Open Sans"/>
              </a:rPr>
              <a:t>Dataset Split: </a:t>
            </a:r>
            <a:r>
              <a:rPr lang="it-IT">
                <a:latin typeface="Open Sans"/>
                <a:ea typeface="Open Sans"/>
                <a:cs typeface="Open Sans"/>
              </a:rPr>
              <a:t>80% Training set and 20% Test set.</a:t>
            </a:r>
          </a:p>
          <a:p>
            <a:pPr>
              <a:lnSpc>
                <a:spcPct val="150000"/>
              </a:lnSpc>
              <a:buFont typeface="Times New Roman"/>
              <a:buChar char="●"/>
            </a:pPr>
            <a:r>
              <a:rPr lang="it-IT" b="1" dirty="0">
                <a:latin typeface="Open Sans"/>
                <a:ea typeface="Open Sans"/>
                <a:cs typeface="Open Sans"/>
                <a:sym typeface="Open Sans"/>
              </a:rPr>
              <a:t>Technique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it-IT" dirty="0" err="1">
                <a:latin typeface="Open Sans"/>
                <a:ea typeface="Open Sans"/>
                <a:cs typeface="Open Sans"/>
                <a:sym typeface="Open Sans"/>
              </a:rPr>
              <a:t>Grid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 Search with </a:t>
            </a:r>
            <a:r>
              <a:rPr lang="it-IT" dirty="0" err="1">
                <a:latin typeface="Open Sans"/>
                <a:ea typeface="Open Sans"/>
                <a:cs typeface="Open Sans"/>
                <a:sym typeface="Open Sans"/>
              </a:rPr>
              <a:t>Stratified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 3-Fold Cross-</a:t>
            </a:r>
            <a:r>
              <a:rPr lang="it-IT" dirty="0" err="1">
                <a:latin typeface="Open Sans"/>
                <a:ea typeface="Open Sans"/>
                <a:cs typeface="Open Sans"/>
                <a:sym typeface="Open Sans"/>
              </a:rPr>
              <a:t>Validation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lang="it-IT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it-IT" b="1" dirty="0">
                <a:latin typeface="Open Sans"/>
                <a:ea typeface="Open Sans"/>
                <a:cs typeface="Open Sans"/>
                <a:sym typeface="Open Sans"/>
              </a:rPr>
              <a:t>Target </a:t>
            </a:r>
            <a:r>
              <a:rPr lang="it-IT" b="1" dirty="0" err="1">
                <a:latin typeface="Open Sans"/>
                <a:ea typeface="Open Sans"/>
                <a:cs typeface="Open Sans"/>
                <a:sym typeface="Open Sans"/>
              </a:rPr>
              <a:t>Metric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it-IT" dirty="0" err="1">
                <a:latin typeface="Open Sans"/>
                <a:ea typeface="Open Sans"/>
                <a:cs typeface="Open Sans"/>
                <a:sym typeface="Open Sans"/>
              </a:rPr>
              <a:t>Maximizing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 F1-Score.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it-IT" b="1" dirty="0" err="1">
                <a:latin typeface="Open Sans"/>
                <a:ea typeface="Open Sans"/>
                <a:cs typeface="Open Sans"/>
                <a:sym typeface="Open Sans"/>
              </a:rPr>
              <a:t>Tuned</a:t>
            </a:r>
            <a:r>
              <a:rPr lang="it-IT" b="1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it-IT" b="1" dirty="0" err="1">
                <a:latin typeface="Open Sans"/>
                <a:ea typeface="Open Sans"/>
                <a:cs typeface="Open Sans"/>
                <a:sym typeface="Open Sans"/>
              </a:rPr>
              <a:t>Parameters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it-IT" dirty="0" err="1">
                <a:latin typeface="Open Sans"/>
                <a:ea typeface="Open Sans"/>
                <a:cs typeface="Open Sans"/>
                <a:sym typeface="Open Sans"/>
              </a:rPr>
              <a:t>learning_rate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it-IT" dirty="0" err="1">
                <a:latin typeface="Open Sans"/>
                <a:ea typeface="Open Sans"/>
                <a:cs typeface="Open Sans"/>
                <a:sym typeface="Open Sans"/>
              </a:rPr>
              <a:t>num_leaves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it-IT" dirty="0" err="1">
                <a:latin typeface="Open Sans"/>
                <a:ea typeface="Open Sans"/>
                <a:cs typeface="Open Sans"/>
                <a:sym typeface="Open Sans"/>
              </a:rPr>
              <a:t>max_depth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it-IT" dirty="0" err="1">
                <a:latin typeface="Open Sans"/>
                <a:ea typeface="Open Sans"/>
                <a:cs typeface="Open Sans"/>
                <a:sym typeface="Open Sans"/>
              </a:rPr>
              <a:t>n_estimators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it-IT" b="1" dirty="0" err="1">
                <a:latin typeface="Open Sans"/>
                <a:ea typeface="Open Sans"/>
                <a:cs typeface="Open Sans"/>
                <a:sym typeface="Open Sans"/>
              </a:rPr>
              <a:t>Final</a:t>
            </a:r>
            <a:r>
              <a:rPr lang="it-IT" b="1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it-IT" b="1" dirty="0" err="1">
                <a:latin typeface="Open Sans"/>
                <a:ea typeface="Open Sans"/>
                <a:cs typeface="Open Sans"/>
                <a:sym typeface="Open Sans"/>
              </a:rPr>
              <a:t>Result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: F1-Score </a:t>
            </a:r>
            <a:r>
              <a:rPr lang="it-IT" dirty="0" err="1">
                <a:latin typeface="Open Sans"/>
                <a:ea typeface="Open Sans"/>
                <a:cs typeface="Open Sans"/>
                <a:sym typeface="Open Sans"/>
              </a:rPr>
              <a:t>increased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 to 97.9% (</a:t>
            </a:r>
            <a:r>
              <a:rPr lang="it-IT" dirty="0" err="1">
                <a:latin typeface="Open Sans"/>
                <a:ea typeface="Open Sans"/>
                <a:cs typeface="Open Sans"/>
                <a:sym typeface="Open Sans"/>
              </a:rPr>
              <a:t>Accuracy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: 97.9%).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it-IT" b="1" dirty="0">
                <a:latin typeface="Open Sans"/>
                <a:ea typeface="Open Sans"/>
                <a:cs typeface="Open Sans"/>
                <a:sym typeface="Open Sans"/>
              </a:rPr>
              <a:t>Key Benefit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: Better </a:t>
            </a:r>
            <a:r>
              <a:rPr lang="it-IT" dirty="0" err="1">
                <a:latin typeface="Open Sans"/>
                <a:ea typeface="Open Sans"/>
                <a:cs typeface="Open Sans"/>
                <a:sym typeface="Open Sans"/>
              </a:rPr>
              <a:t>generalization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 and </a:t>
            </a:r>
            <a:r>
              <a:rPr lang="it-IT" dirty="0" err="1">
                <a:latin typeface="Open Sans"/>
                <a:ea typeface="Open Sans"/>
                <a:cs typeface="Open Sans"/>
                <a:sym typeface="Open Sans"/>
              </a:rPr>
              <a:t>lower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 risk of </a:t>
            </a:r>
            <a:r>
              <a:rPr lang="it-IT" dirty="0" err="1">
                <a:latin typeface="Open Sans"/>
                <a:ea typeface="Open Sans"/>
                <a:cs typeface="Open Sans"/>
                <a:sym typeface="Open Sans"/>
              </a:rPr>
              <a:t>overfitting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latin typeface="Times New Roman"/>
                <a:ea typeface="Times New Roman"/>
                <a:cs typeface="Times New Roman"/>
                <a:sym typeface="Times New Roman"/>
              </a:rPr>
              <a:t>22/27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9" name="Google Shape;69;p14"/>
          <p:cNvCxnSpPr/>
          <p:nvPr/>
        </p:nvCxnSpPr>
        <p:spPr>
          <a:xfrm>
            <a:off x="276600" y="789125"/>
            <a:ext cx="4295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2769702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-IT" sz="3720" b="1" dirty="0">
                <a:latin typeface="Roboto Serif"/>
                <a:ea typeface="Roboto Serif"/>
                <a:cs typeface="Roboto Serif"/>
                <a:sym typeface="Roboto Serif"/>
              </a:rPr>
              <a:t>LightGBM optimization</a:t>
            </a:r>
            <a:endParaRPr sz="3720" b="1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latin typeface="Times New Roman"/>
                <a:ea typeface="Times New Roman"/>
                <a:cs typeface="Times New Roman"/>
                <a:sym typeface="Times New Roman"/>
              </a:rPr>
              <a:t>23/27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9" name="Google Shape;69;p14"/>
          <p:cNvCxnSpPr/>
          <p:nvPr/>
        </p:nvCxnSpPr>
        <p:spPr>
          <a:xfrm>
            <a:off x="276600" y="789125"/>
            <a:ext cx="4295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Picture 6" descr="A blue squares with white text&#10;&#10;AI-generated content may be incorrect.">
            <a:extLst>
              <a:ext uri="{FF2B5EF4-FFF2-40B4-BE49-F238E27FC236}">
                <a16:creationId xmlns:a16="http://schemas.microsoft.com/office/drawing/2014/main" id="{BB39854A-617E-51AF-CBC2-5D1150F229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505473"/>
            <a:ext cx="3612324" cy="2740624"/>
          </a:xfrm>
          <a:prstGeom prst="rect">
            <a:avLst/>
          </a:prstGeom>
        </p:spPr>
      </p:pic>
      <p:pic>
        <p:nvPicPr>
          <p:cNvPr id="6" name="Picture 5" descr="A blue squares with white text&#10;&#10;AI-generated content may be incorrect.">
            <a:extLst>
              <a:ext uri="{FF2B5EF4-FFF2-40B4-BE49-F238E27FC236}">
                <a16:creationId xmlns:a16="http://schemas.microsoft.com/office/drawing/2014/main" id="{9582D80C-799F-D454-0A4B-0E9793E158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600" y="1505473"/>
            <a:ext cx="3612325" cy="2740625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35A507F-C676-F51D-35EA-593B7B0F3122}"/>
              </a:ext>
            </a:extLst>
          </p:cNvPr>
          <p:cNvCxnSpPr/>
          <p:nvPr/>
        </p:nvCxnSpPr>
        <p:spPr>
          <a:xfrm>
            <a:off x="4340352" y="1377696"/>
            <a:ext cx="0" cy="316382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1912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A0D9977F-11AA-BE37-DF5D-FB8E75F26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B7120D5B-3ED6-2E4E-80E0-5AFD161FA9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-IT" sz="3720" b="1" dirty="0">
                <a:latin typeface="Roboto Serif"/>
                <a:ea typeface="Roboto Serif"/>
                <a:cs typeface="Roboto Serif"/>
                <a:sym typeface="Roboto Serif"/>
              </a:rPr>
              <a:t>LightGBM optimization</a:t>
            </a:r>
            <a:endParaRPr sz="3720" b="1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8" name="Google Shape;68;p14">
            <a:extLst>
              <a:ext uri="{FF2B5EF4-FFF2-40B4-BE49-F238E27FC236}">
                <a16:creationId xmlns:a16="http://schemas.microsoft.com/office/drawing/2014/main" id="{D288080E-5E15-83AD-B0A7-8BF0333130E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latin typeface="Times New Roman"/>
                <a:ea typeface="Times New Roman"/>
                <a:cs typeface="Times New Roman"/>
                <a:sym typeface="Times New Roman"/>
              </a:rPr>
              <a:t>22/27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9" name="Google Shape;69;p14">
            <a:extLst>
              <a:ext uri="{FF2B5EF4-FFF2-40B4-BE49-F238E27FC236}">
                <a16:creationId xmlns:a16="http://schemas.microsoft.com/office/drawing/2014/main" id="{271CC5C2-AC57-EFC9-C9B8-841E39065A8D}"/>
              </a:ext>
            </a:extLst>
          </p:cNvPr>
          <p:cNvCxnSpPr/>
          <p:nvPr/>
        </p:nvCxnSpPr>
        <p:spPr>
          <a:xfrm>
            <a:off x="276600" y="789125"/>
            <a:ext cx="4295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Immagine 3" descr="Immagine che contiene testo, schermata, Carattere&#10;&#10;Il contenuto generato dall&amp;#39;IA potrebbe non essere corretto.">
            <a:extLst>
              <a:ext uri="{FF2B5EF4-FFF2-40B4-BE49-F238E27FC236}">
                <a16:creationId xmlns:a16="http://schemas.microsoft.com/office/drawing/2014/main" id="{E0D9DE49-A140-9676-08F3-777C14D9C1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05" b="19635"/>
          <a:stretch>
            <a:fillRect/>
          </a:stretch>
        </p:blipFill>
        <p:spPr>
          <a:xfrm>
            <a:off x="2549569" y="1409178"/>
            <a:ext cx="3802179" cy="1377863"/>
          </a:xfrm>
          <a:prstGeom prst="rect">
            <a:avLst/>
          </a:prstGeom>
        </p:spPr>
      </p:pic>
      <p:pic>
        <p:nvPicPr>
          <p:cNvPr id="5" name="Immagine 4" descr="Immagine che contiene testo, schermata, Carattere&#10;&#10;Il contenuto generato dall&amp;#39;IA potrebbe non essere corretto.">
            <a:extLst>
              <a:ext uri="{FF2B5EF4-FFF2-40B4-BE49-F238E27FC236}">
                <a16:creationId xmlns:a16="http://schemas.microsoft.com/office/drawing/2014/main" id="{7597DA4F-72BC-88FC-3A84-614970C6BDB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140" b="22868"/>
          <a:stretch>
            <a:fillRect/>
          </a:stretch>
        </p:blipFill>
        <p:spPr>
          <a:xfrm>
            <a:off x="1278438" y="3276601"/>
            <a:ext cx="5608534" cy="1557523"/>
          </a:xfrm>
          <a:prstGeom prst="rect">
            <a:avLst/>
          </a:prstGeom>
        </p:spPr>
      </p:pic>
      <p:sp>
        <p:nvSpPr>
          <p:cNvPr id="7" name="Google Shape;67;p14">
            <a:extLst>
              <a:ext uri="{FF2B5EF4-FFF2-40B4-BE49-F238E27FC236}">
                <a16:creationId xmlns:a16="http://schemas.microsoft.com/office/drawing/2014/main" id="{3FCA567D-E1B1-A190-4106-41D3150BCF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491832" y="1013165"/>
            <a:ext cx="3651107" cy="6737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lang="it-IT" sz="1400" dirty="0" err="1">
                <a:latin typeface="Open Sans"/>
                <a:ea typeface="Open Sans"/>
                <a:cs typeface="Open Sans"/>
              </a:rPr>
              <a:t>Before</a:t>
            </a:r>
            <a:r>
              <a:rPr lang="it-IT" sz="1400" dirty="0">
                <a:latin typeface="Open Sans"/>
                <a:ea typeface="Open Sans"/>
                <a:cs typeface="Open Sans"/>
              </a:rPr>
              <a:t> </a:t>
            </a:r>
            <a:r>
              <a:rPr lang="it-IT" sz="1400" dirty="0" err="1">
                <a:latin typeface="Open Sans"/>
                <a:ea typeface="Open Sans"/>
                <a:cs typeface="Open Sans"/>
              </a:rPr>
              <a:t>Hyperparameter</a:t>
            </a:r>
            <a:r>
              <a:rPr lang="it-IT" sz="1400" dirty="0">
                <a:latin typeface="Open Sans"/>
                <a:ea typeface="Open Sans"/>
                <a:cs typeface="Open Sans"/>
              </a:rPr>
              <a:t> Tuning (Test set)</a:t>
            </a:r>
            <a:endParaRPr lang="it-IT" sz="1400" dirty="0"/>
          </a:p>
        </p:txBody>
      </p:sp>
      <p:sp>
        <p:nvSpPr>
          <p:cNvPr id="10" name="Google Shape;67;p14">
            <a:extLst>
              <a:ext uri="{FF2B5EF4-FFF2-40B4-BE49-F238E27FC236}">
                <a16:creationId xmlns:a16="http://schemas.microsoft.com/office/drawing/2014/main" id="{DEFFD00A-913E-36BA-15C1-A037A28E91E9}"/>
              </a:ext>
            </a:extLst>
          </p:cNvPr>
          <p:cNvSpPr txBox="1">
            <a:spLocks/>
          </p:cNvSpPr>
          <p:nvPr/>
        </p:nvSpPr>
        <p:spPr>
          <a:xfrm>
            <a:off x="2487658" y="2942695"/>
            <a:ext cx="3651107" cy="673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lnSpc>
                <a:spcPct val="150000"/>
              </a:lnSpc>
              <a:buNone/>
            </a:pPr>
            <a:r>
              <a:rPr lang="it-IT" sz="1400" dirty="0">
                <a:latin typeface="Open Sans"/>
                <a:ea typeface="Open Sans"/>
                <a:cs typeface="Open Sans"/>
              </a:rPr>
              <a:t>After </a:t>
            </a:r>
            <a:r>
              <a:rPr lang="it-IT" sz="1400" dirty="0" err="1">
                <a:latin typeface="Open Sans"/>
                <a:ea typeface="Open Sans"/>
                <a:cs typeface="Open Sans"/>
              </a:rPr>
              <a:t>Hyperparameter</a:t>
            </a:r>
            <a:r>
              <a:rPr lang="it-IT" sz="1400" dirty="0">
                <a:latin typeface="Open Sans"/>
                <a:ea typeface="Open Sans"/>
                <a:cs typeface="Open Sans"/>
              </a:rPr>
              <a:t> Tuning (Test set)</a:t>
            </a:r>
            <a:endParaRPr lang="it-IT" sz="1400" dirty="0"/>
          </a:p>
        </p:txBody>
      </p:sp>
    </p:spTree>
    <p:extLst>
      <p:ext uri="{BB962C8B-B14F-4D97-AF65-F5344CB8AC3E}">
        <p14:creationId xmlns:p14="http://schemas.microsoft.com/office/powerpoint/2010/main" val="29111785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-IT" sz="3720" b="1" dirty="0">
                <a:latin typeface="Roboto Serif"/>
                <a:ea typeface="Roboto Serif"/>
                <a:cs typeface="Roboto Serif"/>
                <a:sym typeface="Roboto Serif"/>
              </a:rPr>
              <a:t>Model explainability</a:t>
            </a:r>
            <a:endParaRPr sz="3720" b="1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346750" y="1138425"/>
            <a:ext cx="8520600" cy="19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it-IT" sz="1700" b="1" dirty="0">
                <a:latin typeface="Open Sans"/>
                <a:ea typeface="Open Sans"/>
                <a:cs typeface="Open Sans"/>
                <a:sym typeface="Open Sans"/>
              </a:rPr>
              <a:t>The "Black Box" Problem</a:t>
            </a:r>
            <a:r>
              <a:rPr lang="it-IT" sz="1700" dirty="0">
                <a:latin typeface="Open Sans"/>
                <a:ea typeface="Open Sans"/>
                <a:cs typeface="Open Sans"/>
                <a:sym typeface="Open Sans"/>
              </a:rPr>
              <a:t>: High performance requires transparency and trust.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it-IT" sz="1700" b="1" dirty="0">
                <a:latin typeface="Open Sans"/>
                <a:ea typeface="Open Sans"/>
                <a:cs typeface="Open Sans"/>
                <a:sym typeface="Open Sans"/>
              </a:rPr>
              <a:t>Global Interpretation (SHAP)</a:t>
            </a:r>
            <a:r>
              <a:rPr lang="it-IT" sz="1700" dirty="0">
                <a:latin typeface="Open Sans"/>
                <a:ea typeface="Open Sans"/>
                <a:cs typeface="Open Sans"/>
                <a:sym typeface="Open Sans"/>
              </a:rPr>
              <a:t>:</a:t>
            </a:r>
            <a:r>
              <a:rPr lang="it-IT" sz="1700" b="1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it-IT" sz="1700" dirty="0">
                <a:latin typeface="Open Sans"/>
                <a:ea typeface="Open Sans"/>
                <a:cs typeface="Open Sans"/>
                <a:sym typeface="Open Sans"/>
              </a:rPr>
              <a:t>Identifies the most impactful features across the entire dataset (e.g., specific keywords, exclamation ratio).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it-IT" sz="1700" b="1" dirty="0">
                <a:latin typeface="Open Sans"/>
                <a:ea typeface="Open Sans"/>
                <a:cs typeface="Open Sans"/>
                <a:sym typeface="Open Sans"/>
              </a:rPr>
              <a:t>Local Interpretation (LIME)</a:t>
            </a:r>
            <a:r>
              <a:rPr lang="it-IT" sz="1700" dirty="0">
                <a:latin typeface="Open Sans"/>
                <a:ea typeface="Open Sans"/>
                <a:cs typeface="Open Sans"/>
                <a:sym typeface="Open Sans"/>
              </a:rPr>
              <a:t>:</a:t>
            </a:r>
            <a:r>
              <a:rPr lang="it-IT" sz="1700" b="1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it-IT" sz="1700" dirty="0">
                <a:latin typeface="Open Sans"/>
                <a:ea typeface="Open Sans"/>
                <a:cs typeface="Open Sans"/>
                <a:sym typeface="Open Sans"/>
              </a:rPr>
              <a:t>Explains single, real-time predictions to the end-user.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it-IT" sz="1700" b="1" dirty="0">
                <a:latin typeface="Open Sans"/>
                <a:ea typeface="Open Sans"/>
                <a:cs typeface="Open Sans"/>
                <a:sym typeface="Open Sans"/>
              </a:rPr>
              <a:t>Our Strategy</a:t>
            </a:r>
            <a:r>
              <a:rPr lang="it-IT" sz="1700" dirty="0">
                <a:latin typeface="Open Sans"/>
                <a:ea typeface="Open Sans"/>
                <a:cs typeface="Open Sans"/>
                <a:sym typeface="Open Sans"/>
              </a:rPr>
              <a:t>: SHAP for model validation, LIME for user-facing transparency.</a:t>
            </a:r>
            <a:endParaRPr sz="17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latin typeface="Times New Roman"/>
                <a:ea typeface="Times New Roman"/>
                <a:cs typeface="Times New Roman"/>
                <a:sym typeface="Times New Roman"/>
              </a:rPr>
              <a:t>24/27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9" name="Google Shape;69;p14"/>
          <p:cNvCxnSpPr/>
          <p:nvPr/>
        </p:nvCxnSpPr>
        <p:spPr>
          <a:xfrm>
            <a:off x="276600" y="789125"/>
            <a:ext cx="4295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7797541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-IT" sz="3720" b="1" dirty="0">
                <a:latin typeface="Roboto Serif"/>
                <a:ea typeface="Roboto Serif"/>
                <a:cs typeface="Roboto Serif"/>
                <a:sym typeface="Roboto Serif"/>
              </a:rPr>
              <a:t>Model explainability</a:t>
            </a:r>
            <a:endParaRPr sz="3720" b="1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latin typeface="Times New Roman"/>
                <a:ea typeface="Times New Roman"/>
                <a:cs typeface="Times New Roman"/>
                <a:sym typeface="Times New Roman"/>
              </a:rPr>
              <a:t>25/27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9" name="Google Shape;69;p14"/>
          <p:cNvCxnSpPr/>
          <p:nvPr/>
        </p:nvCxnSpPr>
        <p:spPr>
          <a:xfrm>
            <a:off x="276600" y="789125"/>
            <a:ext cx="4295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4" descr="A graph with numbers and text&#10;&#10;AI-generated content may be incorrect.">
            <a:extLst>
              <a:ext uri="{FF2B5EF4-FFF2-40B4-BE49-F238E27FC236}">
                <a16:creationId xmlns:a16="http://schemas.microsoft.com/office/drawing/2014/main" id="{AD0649EA-B411-6E97-7D69-E179149355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115"/>
          <a:stretch/>
        </p:blipFill>
        <p:spPr>
          <a:xfrm>
            <a:off x="3953595" y="1424940"/>
            <a:ext cx="4878705" cy="3086099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0958559-3D62-1462-D80F-B7102E96676A}"/>
              </a:ext>
            </a:extLst>
          </p:cNvPr>
          <p:cNvCxnSpPr>
            <a:cxnSpLocks/>
          </p:cNvCxnSpPr>
          <p:nvPr/>
        </p:nvCxnSpPr>
        <p:spPr>
          <a:xfrm>
            <a:off x="3923115" y="1066800"/>
            <a:ext cx="0" cy="38862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D254120-E3D2-87D6-DA03-6E4ECE6C3E03}"/>
              </a:ext>
            </a:extLst>
          </p:cNvPr>
          <p:cNvSpPr txBox="1"/>
          <p:nvPr/>
        </p:nvSpPr>
        <p:spPr>
          <a:xfrm>
            <a:off x="134113" y="829170"/>
            <a:ext cx="44378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SHAP summary plot – 20 most important features</a:t>
            </a:r>
          </a:p>
        </p:txBody>
      </p:sp>
      <p:pic>
        <p:nvPicPr>
          <p:cNvPr id="13" name="Picture 12" descr="A screen shot of a graph&#10;&#10;AI-generated content may be incorrect.">
            <a:extLst>
              <a:ext uri="{FF2B5EF4-FFF2-40B4-BE49-F238E27FC236}">
                <a16:creationId xmlns:a16="http://schemas.microsoft.com/office/drawing/2014/main" id="{62661D18-C171-0F0D-9E0B-C8C8EF5D4C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751" y="1059801"/>
            <a:ext cx="3263703" cy="393823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818A1B8-AE86-08C1-7083-CB94F74217F5}"/>
              </a:ext>
            </a:extLst>
          </p:cNvPr>
          <p:cNvSpPr txBox="1"/>
          <p:nvPr/>
        </p:nvSpPr>
        <p:spPr>
          <a:xfrm>
            <a:off x="4825108" y="1090718"/>
            <a:ext cx="44378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Why did the model classify article 1 like this?</a:t>
            </a:r>
          </a:p>
        </p:txBody>
      </p:sp>
    </p:spTree>
    <p:extLst>
      <p:ext uri="{BB962C8B-B14F-4D97-AF65-F5344CB8AC3E}">
        <p14:creationId xmlns:p14="http://schemas.microsoft.com/office/powerpoint/2010/main" val="40803595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-IT" sz="3720" b="1" dirty="0">
                <a:latin typeface="Roboto Serif"/>
                <a:ea typeface="Roboto Serif"/>
                <a:cs typeface="Roboto Serif"/>
                <a:sym typeface="Roboto Serif"/>
              </a:rPr>
              <a:t>Our App</a:t>
            </a:r>
            <a:endParaRPr sz="3720" b="1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346750" y="1138424"/>
            <a:ext cx="8520600" cy="25039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r>
              <a:rPr lang="en-US" b="1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End-to-End Pipeline: </a:t>
            </a:r>
            <a:r>
              <a:rPr lang="en-US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Real-time inference using the optimized </a:t>
            </a:r>
            <a:r>
              <a:rPr lang="en-US" dirty="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LightGBM</a:t>
            </a:r>
            <a:r>
              <a:rPr lang="en-US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model.</a:t>
            </a:r>
          </a:p>
          <a:p>
            <a:r>
              <a:rPr lang="en-US" b="1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Dual Input Architecture:</a:t>
            </a:r>
          </a:p>
          <a:p>
            <a:pPr lvl="1"/>
            <a:r>
              <a:rPr lang="en-US" sz="1800" b="1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Online Mode (URL): </a:t>
            </a:r>
            <a:r>
              <a:rPr lang="en-US" sz="18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Automated web scraping to extract title and body from live articles.</a:t>
            </a:r>
          </a:p>
          <a:p>
            <a:pPr lvl="1"/>
            <a:r>
              <a:rPr lang="en-US" sz="1800" b="1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Offline Mode (Manual): </a:t>
            </a:r>
            <a:r>
              <a:rPr lang="en-US" sz="18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Direct raw text input for unpublished or custom content..</a:t>
            </a:r>
          </a:p>
          <a:p>
            <a:r>
              <a:rPr lang="en-US" b="1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Transparent Output: </a:t>
            </a:r>
            <a:r>
              <a:rPr lang="en-US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Automated generation of an interactive </a:t>
            </a:r>
            <a:r>
              <a:rPr lang="en-US" b="1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LIME Report </a:t>
            </a:r>
            <a:r>
              <a:rPr lang="en-US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 the end-user.</a:t>
            </a:r>
            <a:endParaRPr lang="it-IT" dirty="0">
              <a:latin typeface="Open Sans"/>
              <a:ea typeface="Open Sans"/>
              <a:cs typeface="Open Sans"/>
              <a:sym typeface="Open Sans"/>
            </a:endParaRPr>
          </a:p>
          <a:p>
            <a:pPr marL="571500" lvl="1" indent="0">
              <a:lnSpc>
                <a:spcPct val="150000"/>
              </a:lnSpc>
              <a:buSzPts val="1800"/>
              <a:buNone/>
            </a:pPr>
            <a:endParaRPr lang="it-IT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latin typeface="Times New Roman"/>
                <a:ea typeface="Times New Roman"/>
                <a:cs typeface="Times New Roman"/>
                <a:sym typeface="Times New Roman"/>
              </a:rPr>
              <a:t>26/27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9" name="Google Shape;69;p14"/>
          <p:cNvCxnSpPr/>
          <p:nvPr/>
        </p:nvCxnSpPr>
        <p:spPr>
          <a:xfrm>
            <a:off x="276600" y="789125"/>
            <a:ext cx="4295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1137387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-IT" sz="3720" b="1" dirty="0">
                <a:latin typeface="Roboto Serif"/>
                <a:ea typeface="Roboto Serif"/>
                <a:cs typeface="Roboto Serif"/>
                <a:sym typeface="Roboto Serif"/>
              </a:rPr>
              <a:t>Conclusion and future works</a:t>
            </a:r>
            <a:endParaRPr sz="3720" b="1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346750" y="1138424"/>
            <a:ext cx="8520600" cy="36771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Mission Accomplished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: High-performance hybrid model (97.9% F1-Score).</a:t>
            </a:r>
          </a:p>
          <a:p>
            <a:pPr>
              <a:lnSpc>
                <a:spcPct val="150000"/>
              </a:lnSpc>
              <a:buFont typeface="Times New Roman"/>
              <a:buChar char="●"/>
            </a:pPr>
            <a:r>
              <a:rPr lang="en-US" b="1" dirty="0">
                <a:latin typeface="Open Sans"/>
                <a:ea typeface="Open Sans"/>
                <a:cs typeface="Open Sans"/>
                <a:sym typeface="Open Sans"/>
              </a:rPr>
              <a:t>Transparency</a:t>
            </a:r>
            <a:r>
              <a:rPr lang="en-US" dirty="0">
                <a:latin typeface="Open Sans"/>
                <a:ea typeface="Open Sans"/>
                <a:cs typeface="Open Sans"/>
                <a:sym typeface="Open Sans"/>
              </a:rPr>
              <a:t>: Successfully bridged the gap between complex ML and user </a:t>
            </a: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trust (through LIME).</a:t>
            </a:r>
            <a:endParaRPr lang="en-US">
              <a:latin typeface="Open Sans"/>
              <a:ea typeface="Open Sans"/>
              <a:cs typeface="Open Sans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Ready-to-Use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: Delivered a functional, real-time Fake News Detector App.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it-IT" b="1" dirty="0">
                <a:latin typeface="Open Sans"/>
                <a:ea typeface="Open Sans"/>
                <a:cs typeface="Open Sans"/>
                <a:sym typeface="Open Sans"/>
              </a:rPr>
              <a:t>Advanced Deep Learning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it-IT" dirty="0" err="1">
                <a:latin typeface="Open Sans"/>
                <a:ea typeface="Open Sans"/>
                <a:cs typeface="Open Sans"/>
                <a:sym typeface="Open Sans"/>
              </a:rPr>
              <a:t>Transition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 to Transformer-</a:t>
            </a:r>
            <a:r>
              <a:rPr lang="it-IT" dirty="0" err="1">
                <a:latin typeface="Open Sans"/>
                <a:ea typeface="Open Sans"/>
                <a:cs typeface="Open Sans"/>
                <a:sym typeface="Open Sans"/>
              </a:rPr>
              <a:t>based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 models (e.g., BERT / </a:t>
            </a:r>
            <a:r>
              <a:rPr lang="it-IT" dirty="0" err="1">
                <a:latin typeface="Open Sans"/>
                <a:ea typeface="Open Sans"/>
                <a:cs typeface="Open Sans"/>
                <a:sym typeface="Open Sans"/>
              </a:rPr>
              <a:t>RoBERTa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).</a:t>
            </a:r>
            <a:endParaRPr lang="it-IT" dirty="0">
              <a:latin typeface="Open Sans"/>
              <a:ea typeface="Open Sans"/>
              <a:cs typeface="Open Sans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it-IT" b="1" dirty="0">
                <a:latin typeface="Open Sans"/>
                <a:ea typeface="Open Sans"/>
                <a:cs typeface="Open Sans"/>
                <a:sym typeface="Open Sans"/>
              </a:rPr>
              <a:t>Bias </a:t>
            </a:r>
            <a:r>
              <a:rPr lang="it-IT" b="1" dirty="0" err="1">
                <a:latin typeface="Open Sans"/>
                <a:ea typeface="Open Sans"/>
                <a:cs typeface="Open Sans"/>
                <a:sym typeface="Open Sans"/>
              </a:rPr>
              <a:t>Mitigation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it-IT" dirty="0" err="1">
                <a:latin typeface="Open Sans"/>
                <a:ea typeface="Open Sans"/>
                <a:cs typeface="Open Sans"/>
                <a:sym typeface="Open Sans"/>
              </a:rPr>
              <a:t>Expand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 dataset to reduce US-</a:t>
            </a:r>
            <a:r>
              <a:rPr lang="it-IT" dirty="0" err="1">
                <a:latin typeface="Open Sans"/>
                <a:ea typeface="Open Sans"/>
                <a:cs typeface="Open Sans"/>
                <a:sym typeface="Open Sans"/>
              </a:rPr>
              <a:t>politics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 domain </a:t>
            </a:r>
            <a:r>
              <a:rPr lang="it-IT" dirty="0" err="1">
                <a:latin typeface="Open Sans"/>
                <a:ea typeface="Open Sans"/>
                <a:cs typeface="Open Sans"/>
                <a:sym typeface="Open Sans"/>
              </a:rPr>
              <a:t>bias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lang="it-IT" dirty="0">
              <a:latin typeface="Open Sans"/>
              <a:ea typeface="Open Sans"/>
              <a:cs typeface="Open Sans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it-IT" b="1" dirty="0" err="1">
                <a:latin typeface="Open Sans"/>
                <a:ea typeface="Open Sans"/>
                <a:cs typeface="Open Sans"/>
                <a:sym typeface="Open Sans"/>
              </a:rPr>
              <a:t>Multilingual</a:t>
            </a:r>
            <a:r>
              <a:rPr lang="it-IT" b="1" dirty="0">
                <a:latin typeface="Open Sans"/>
                <a:ea typeface="Open Sans"/>
                <a:cs typeface="Open Sans"/>
                <a:sym typeface="Open Sans"/>
              </a:rPr>
              <a:t> Support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it-IT" dirty="0" err="1">
                <a:latin typeface="Open Sans"/>
                <a:ea typeface="Open Sans"/>
                <a:cs typeface="Open Sans"/>
                <a:sym typeface="Open Sans"/>
              </a:rPr>
              <a:t>Extend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it-IT" dirty="0" err="1">
                <a:latin typeface="Open Sans"/>
                <a:ea typeface="Open Sans"/>
                <a:cs typeface="Open Sans"/>
                <a:sym typeface="Open Sans"/>
              </a:rPr>
              <a:t>detection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 capabilities </a:t>
            </a:r>
            <a:r>
              <a:rPr lang="it-IT" dirty="0" err="1">
                <a:latin typeface="Open Sans"/>
                <a:ea typeface="Open Sans"/>
                <a:cs typeface="Open Sans"/>
                <a:sym typeface="Open Sans"/>
              </a:rPr>
              <a:t>beyond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 the English </a:t>
            </a:r>
            <a:r>
              <a:rPr lang="it-IT" dirty="0" err="1">
                <a:latin typeface="Open Sans"/>
                <a:ea typeface="Open Sans"/>
                <a:cs typeface="Open Sans"/>
                <a:sym typeface="Open Sans"/>
              </a:rPr>
              <a:t>language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latin typeface="Times New Roman"/>
                <a:ea typeface="Times New Roman"/>
                <a:cs typeface="Times New Roman"/>
                <a:sym typeface="Times New Roman"/>
              </a:rPr>
              <a:t>27/27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9" name="Google Shape;69;p14"/>
          <p:cNvCxnSpPr/>
          <p:nvPr/>
        </p:nvCxnSpPr>
        <p:spPr>
          <a:xfrm>
            <a:off x="276600" y="789125"/>
            <a:ext cx="4295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38683385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1113</Words>
  <Application>Microsoft Office PowerPoint</Application>
  <PresentationFormat>Presentazione su schermo (16:9)</PresentationFormat>
  <Paragraphs>138</Paragraphs>
  <Slides>24</Slides>
  <Notes>24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24</vt:i4>
      </vt:variant>
    </vt:vector>
  </HeadingPairs>
  <TitlesOfParts>
    <vt:vector size="25" baseType="lpstr">
      <vt:lpstr>Simple Light</vt:lpstr>
      <vt:lpstr>FakeNews detector Machine Learning &amp; Data Mining A.Y. 2025-2026</vt:lpstr>
      <vt:lpstr>Problem</vt:lpstr>
      <vt:lpstr>Our proposal</vt:lpstr>
      <vt:lpstr>Dataset &amp; EDA</vt:lpstr>
      <vt:lpstr>Dataset &amp; EDA</vt:lpstr>
      <vt:lpstr>Dataset &amp; EDA</vt:lpstr>
      <vt:lpstr>Dataset &amp; EDA</vt:lpstr>
      <vt:lpstr>Dataset &amp; EDA</vt:lpstr>
      <vt:lpstr>Dataset &amp; EDA</vt:lpstr>
      <vt:lpstr>Data preprocessing</vt:lpstr>
      <vt:lpstr>Data preprocessing</vt:lpstr>
      <vt:lpstr>Data preprocessing</vt:lpstr>
      <vt:lpstr>Data preprocessing</vt:lpstr>
      <vt:lpstr>Data preprocessing</vt:lpstr>
      <vt:lpstr>Models evaluation</vt:lpstr>
      <vt:lpstr>Models evaluation</vt:lpstr>
      <vt:lpstr>Models evaluation</vt:lpstr>
      <vt:lpstr>LightGBM optimization</vt:lpstr>
      <vt:lpstr>LightGBM optimization</vt:lpstr>
      <vt:lpstr>LightGBM optimization</vt:lpstr>
      <vt:lpstr>Model explainability</vt:lpstr>
      <vt:lpstr>Model explainability</vt:lpstr>
      <vt:lpstr>Our App</vt:lpstr>
      <vt:lpstr>Conclusion and future works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Andrea Giacomazzi</cp:lastModifiedBy>
  <cp:revision>85</cp:revision>
  <dcterms:modified xsi:type="dcterms:W3CDTF">2026-06-02T09:57:16Z</dcterms:modified>
</cp:coreProperties>
</file>