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9" r:id="rId9"/>
    <p:sldId id="270" r:id="rId10"/>
    <p:sldId id="260" r:id="rId11"/>
    <p:sldId id="271" r:id="rId12"/>
    <p:sldId id="274" r:id="rId13"/>
    <p:sldId id="275" r:id="rId14"/>
    <p:sldId id="273" r:id="rId15"/>
    <p:sldId id="276" r:id="rId16"/>
    <p:sldId id="277" r:id="rId17"/>
    <p:sldId id="272" r:id="rId18"/>
    <p:sldId id="278" r:id="rId19"/>
    <p:sldId id="279" r:id="rId20"/>
    <p:sldId id="261" r:id="rId21"/>
    <p:sldId id="280" r:id="rId22"/>
    <p:sldId id="281" r:id="rId23"/>
    <p:sldId id="262" r:id="rId24"/>
    <p:sldId id="282" r:id="rId25"/>
    <p:sldId id="263" r:id="rId26"/>
    <p:sldId id="283" r:id="rId27"/>
    <p:sldId id="264" r:id="rId28"/>
    <p:sldId id="265" r:id="rId29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31"/>
      <p:bold r:id="rId32"/>
      <p:italic r:id="rId33"/>
      <p:boldItalic r:id="rId34"/>
    </p:embeddedFont>
    <p:embeddedFont>
      <p:font typeface="Roboto Serif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7">
          <p15:clr>
            <a:srgbClr val="747775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BDB265-CA13-4033-A9A2-EE50F5DF004B}">
  <a:tblStyle styleId="{22BDB265-CA13-4033-A9A2-EE50F5DF00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26" y="-379"/>
      </p:cViewPr>
      <p:guideLst>
        <p:guide pos="57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0019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2104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8144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756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8747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80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9282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253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3512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82247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83682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3288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96463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96463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4705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88403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91953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96507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54628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09784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71152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9456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17058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70855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94509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353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71850" y="2314158"/>
            <a:ext cx="7800300" cy="126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it-IT" sz="3600" b="1" dirty="0">
                <a:latin typeface="Roboto Serif"/>
                <a:ea typeface="Roboto Serif"/>
                <a:cs typeface="Roboto Serif"/>
                <a:sym typeface="Roboto Serif"/>
              </a:rPr>
              <a:t>Fake news detection</a:t>
            </a:r>
            <a:br>
              <a:rPr lang="it-IT" sz="3600" b="1" dirty="0"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lang="it-IT" sz="1800" b="1" dirty="0">
                <a:latin typeface="Roboto Serif"/>
                <a:ea typeface="Roboto Serif"/>
                <a:cs typeface="Roboto Serif"/>
                <a:sym typeface="Roboto Serif"/>
              </a:rPr>
              <a:t>Machine Learning &amp; Data Mining</a:t>
            </a:r>
            <a:br>
              <a:rPr lang="it-IT" sz="1800" b="1" dirty="0"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lang="it-IT" sz="1800" b="1" dirty="0">
                <a:latin typeface="Roboto Serif"/>
                <a:ea typeface="Roboto Serif"/>
                <a:cs typeface="Roboto Serif"/>
                <a:sym typeface="Roboto Serif"/>
              </a:rPr>
              <a:t>A.A. 2025-2026</a:t>
            </a:r>
            <a:endParaRPr sz="360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2C317-F888-EB6E-D024-096B32A33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4006316"/>
            <a:ext cx="8520600" cy="792600"/>
          </a:xfrm>
        </p:spPr>
        <p:txBody>
          <a:bodyPr/>
          <a:lstStyle/>
          <a:p>
            <a:r>
              <a:rPr lang="it-IT" sz="1600" dirty="0"/>
              <a:t>Alessio Grillo – Andrea Giacomazzi</a:t>
            </a:r>
          </a:p>
          <a:p>
            <a:endParaRPr lang="it-IT" dirty="0"/>
          </a:p>
        </p:txBody>
      </p:sp>
      <p:pic>
        <p:nvPicPr>
          <p:cNvPr id="13" name="Picture 12" descr="A blue and white logo&#10;&#10;AI-generated content may be incorrect.">
            <a:extLst>
              <a:ext uri="{FF2B5EF4-FFF2-40B4-BE49-F238E27FC236}">
                <a16:creationId xmlns:a16="http://schemas.microsoft.com/office/drawing/2014/main" id="{FE1EBBBA-4FED-9282-9F56-2CDD228AB1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358" b="15979"/>
          <a:stretch/>
        </p:blipFill>
        <p:spPr>
          <a:xfrm>
            <a:off x="3392934" y="264665"/>
            <a:ext cx="2358132" cy="1619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Problem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46750" y="1138425"/>
            <a:ext cx="8520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Information overload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Rapid spread of unverified digital content.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Impact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Polarization and manipulation of public opinion.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Scalability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Manual fact-checking is too slow for modern data volumes.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endParaRPr lang="it-IT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Goal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Need for automated, real-time detection systems.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1/27</a:t>
            </a: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Our proposal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46750" y="1138424"/>
            <a:ext cx="8520600" cy="26004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Objective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Develop a robust Machine Learning classifier to distinguish bewteen real and fake information.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Approach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Integrating Semantic Analysis with Stylometric Features.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Explainability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Using XAI techniques (SHAP and LIME) to make model’s decisions transparent.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endParaRPr lang="it-IT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Solution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A functional application for real-time news assesment.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58146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Dataset &amp; EDA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085085"/>
            <a:ext cx="8520600" cy="1216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700" dirty="0">
                <a:latin typeface="Open Sans"/>
                <a:ea typeface="Open Sans"/>
                <a:cs typeface="Open Sans"/>
                <a:sym typeface="Open Sans"/>
              </a:rPr>
              <a:t>The dataset is </a:t>
            </a:r>
            <a:r>
              <a:rPr lang="en-US" sz="1700" b="1" dirty="0">
                <a:latin typeface="Open Sans"/>
                <a:ea typeface="Open Sans"/>
                <a:cs typeface="Open Sans"/>
                <a:sym typeface="Open Sans"/>
              </a:rPr>
              <a:t>WELFake</a:t>
            </a:r>
            <a:r>
              <a:rPr lang="en-US" sz="1700" dirty="0">
                <a:latin typeface="Open Sans"/>
                <a:ea typeface="Open Sans"/>
                <a:cs typeface="Open Sans"/>
                <a:sym typeface="Open Sans"/>
              </a:rPr>
              <a:t> and is present in Kaggle, it consists of 72,134 records, distributed across four primary features:</a:t>
            </a:r>
            <a:endParaRPr sz="17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3/27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Picture 10" descr="A black and white sign with black text&#10;&#10;AI-generated content may be incorrect.">
            <a:extLst>
              <a:ext uri="{FF2B5EF4-FFF2-40B4-BE49-F238E27FC236}">
                <a16:creationId xmlns:a16="http://schemas.microsoft.com/office/drawing/2014/main" id="{A057CF9C-F511-643E-31EC-ED0547FCF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575" y="2354580"/>
            <a:ext cx="6020849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62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Dataset &amp; EDA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4/27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6501E-A9A8-74C5-4DD2-9725D418E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668705"/>
          </a:xfrm>
        </p:spPr>
        <p:txBody>
          <a:bodyPr>
            <a:normAutofit/>
          </a:bodyPr>
          <a:lstStyle/>
          <a:p>
            <a:r>
              <a:rPr lang="en-US" sz="1700" dirty="0">
                <a:latin typeface="Open Sans"/>
                <a:ea typeface="Open Sans"/>
                <a:cs typeface="Open Sans"/>
              </a:rPr>
              <a:t>The WELFake dataset is remarkably well-balanced</a:t>
            </a:r>
            <a:endParaRPr lang="it-IT" sz="1700" dirty="0">
              <a:latin typeface="Open Sans"/>
              <a:ea typeface="Open Sans"/>
              <a:cs typeface="Open Sans"/>
            </a:endParaRPr>
          </a:p>
        </p:txBody>
      </p:sp>
      <p:pic>
        <p:nvPicPr>
          <p:cNvPr id="7" name="Picture 6" descr="A red and blue rectangular bars&#10;&#10;AI-generated content may be incorrect.">
            <a:extLst>
              <a:ext uri="{FF2B5EF4-FFF2-40B4-BE49-F238E27FC236}">
                <a16:creationId xmlns:a16="http://schemas.microsoft.com/office/drawing/2014/main" id="{623AB9D7-0A4A-CEC2-4C1D-03F15BAF7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975" y="1626365"/>
            <a:ext cx="4266049" cy="315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36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Dataset &amp; EDA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5/27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6501E-A9A8-74C5-4DD2-9725D418E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sz="1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Unigram Frequency Analysis</a:t>
            </a:r>
          </a:p>
        </p:txBody>
      </p:sp>
      <p:pic>
        <p:nvPicPr>
          <p:cNvPr id="4" name="Picture 3" descr="A close-up of a graph&#10;&#10;AI-generated content may be incorrect.">
            <a:extLst>
              <a:ext uri="{FF2B5EF4-FFF2-40B4-BE49-F238E27FC236}">
                <a16:creationId xmlns:a16="http://schemas.microsoft.com/office/drawing/2014/main" id="{D0035677-451D-A274-BF34-7A837805E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000" y="1818017"/>
            <a:ext cx="6084000" cy="30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533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Dataset &amp; EDA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6/27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6501E-A9A8-74C5-4DD2-9725D418E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Bigram Frequency Analysis</a:t>
            </a:r>
          </a:p>
          <a:p>
            <a:endParaRPr lang="it-IT" dirty="0"/>
          </a:p>
        </p:txBody>
      </p:sp>
      <p:pic>
        <p:nvPicPr>
          <p:cNvPr id="4" name="Picture 3" descr="A comparison of a graph&#10;&#10;AI-generated content may be incorrect.">
            <a:extLst>
              <a:ext uri="{FF2B5EF4-FFF2-40B4-BE49-F238E27FC236}">
                <a16:creationId xmlns:a16="http://schemas.microsoft.com/office/drawing/2014/main" id="{F3FFB258-F66C-421F-C4D6-8545D8B1E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000" y="1818017"/>
            <a:ext cx="6084000" cy="30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75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Dataset &amp; EDA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7/27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6501E-A9A8-74C5-4DD2-9725D418E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sz="1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Distribution of article’s body length</a:t>
            </a:r>
          </a:p>
        </p:txBody>
      </p:sp>
      <p:pic>
        <p:nvPicPr>
          <p:cNvPr id="4" name="Picture 3" descr="A graph showing the number of words&#10;&#10;AI-generated content may be incorrect.">
            <a:extLst>
              <a:ext uri="{FF2B5EF4-FFF2-40B4-BE49-F238E27FC236}">
                <a16:creationId xmlns:a16="http://schemas.microsoft.com/office/drawing/2014/main" id="{164678B1-411F-9FC4-443D-0EDC2685D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00" y="1810752"/>
            <a:ext cx="5796000" cy="304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68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Dataset &amp; EDA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8/27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6501E-A9A8-74C5-4DD2-9725D418E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sz="1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Uppercase ratio in titles and exclamation marks in article’s body</a:t>
            </a:r>
          </a:p>
        </p:txBody>
      </p:sp>
      <p:pic>
        <p:nvPicPr>
          <p:cNvPr id="4" name="Picture 3" descr="A comparison of a diagram&#10;&#10;AI-generated content may be incorrect.">
            <a:extLst>
              <a:ext uri="{FF2B5EF4-FFF2-40B4-BE49-F238E27FC236}">
                <a16:creationId xmlns:a16="http://schemas.microsoft.com/office/drawing/2014/main" id="{8DB3E9E7-FD30-4B76-2B6F-BB91229A5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661" y="1893498"/>
            <a:ext cx="6462677" cy="276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671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 preprocessing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655798"/>
            <a:ext cx="8520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r>
              <a:rPr lang="en-US" sz="1700" b="1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Handling Missing Values:</a:t>
            </a:r>
            <a:r>
              <a:rPr lang="en-US" sz="17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Entries with null values in the title or text</a:t>
            </a:r>
            <a:r>
              <a:rPr lang="en-US" sz="1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7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fields were identified. Given the size of the dataset, these rows were removed to maintain a high-quality corpus.</a:t>
            </a:r>
          </a:p>
          <a:p>
            <a:r>
              <a:rPr lang="en-US" sz="1700" b="1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 Integration: </a:t>
            </a:r>
            <a:r>
              <a:rPr lang="en-US" sz="17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performed a horizontal integration of the</a:t>
            </a:r>
            <a:r>
              <a:rPr lang="en-US" sz="1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7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title and text columns. This creates a unified ”content” feature, allowin</a:t>
            </a:r>
            <a:r>
              <a:rPr lang="en-US" sz="1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 </a:t>
            </a:r>
            <a:r>
              <a:rPr lang="en-US" sz="17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model to analyze headlines (often rich in clickbait patterns) alongside the full body of the article</a:t>
            </a:r>
            <a:endParaRPr lang="en-US" sz="1700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endParaRPr lang="it-IT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9/27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554C9706-350E-2CDE-547D-26DCC41C2A04}"/>
              </a:ext>
            </a:extLst>
          </p:cNvPr>
          <p:cNvSpPr txBox="1">
            <a:spLocks/>
          </p:cNvSpPr>
          <p:nvPr/>
        </p:nvSpPr>
        <p:spPr>
          <a:xfrm>
            <a:off x="311700" y="10119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it-IT" sz="2000" b="1" dirty="0">
                <a:latin typeface="Roboto Serif"/>
                <a:ea typeface="Roboto Serif"/>
                <a:cs typeface="Roboto Serif"/>
                <a:sym typeface="Roboto Serif"/>
              </a:rPr>
              <a:t>Data Cleaning and Data Integration</a:t>
            </a:r>
          </a:p>
        </p:txBody>
      </p:sp>
    </p:spTree>
    <p:extLst>
      <p:ext uri="{BB962C8B-B14F-4D97-AF65-F5344CB8AC3E}">
        <p14:creationId xmlns:p14="http://schemas.microsoft.com/office/powerpoint/2010/main" val="1789059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 preprocessing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655798"/>
            <a:ext cx="8520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endParaRPr lang="en-US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endParaRPr lang="it-IT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10/27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554C9706-350E-2CDE-547D-26DCC41C2A04}"/>
              </a:ext>
            </a:extLst>
          </p:cNvPr>
          <p:cNvSpPr txBox="1">
            <a:spLocks/>
          </p:cNvSpPr>
          <p:nvPr/>
        </p:nvSpPr>
        <p:spPr>
          <a:xfrm>
            <a:off x="311700" y="10119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it-IT" sz="2000" b="1" dirty="0">
                <a:latin typeface="Roboto Serif"/>
                <a:ea typeface="Roboto Serif"/>
                <a:cs typeface="Roboto Serif"/>
                <a:sym typeface="Roboto Serif"/>
              </a:rPr>
              <a:t>Data Cleaning and Data Integration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C5C5CD-8492-376D-B7B8-1C894A90E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368" y="3226493"/>
            <a:ext cx="5599263" cy="418305"/>
          </a:xfrm>
          <a:prstGeom prst="rect">
            <a:avLst/>
          </a:prstGeom>
        </p:spPr>
      </p:pic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660F32BA-D019-4382-C506-08239F37E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240" y="1778930"/>
            <a:ext cx="6083520" cy="100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87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 preprocessing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655798"/>
            <a:ext cx="8520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7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Lexical Casing</a:t>
            </a:r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We calculated the percentage of uppercase words. High frequencies of capitalized text are a common proxy for sensationalism.</a:t>
            </a:r>
          </a:p>
          <a:p>
            <a:r>
              <a:rPr lang="en-US" sz="17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Article Volumetry</a:t>
            </a:r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We integrated the size of the article (total word count), as fake news often lacks the depth and length of authentic journalism.</a:t>
            </a:r>
          </a:p>
          <a:p>
            <a:r>
              <a:rPr lang="en-US" sz="17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Linguistic Integrity</a:t>
            </a:r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dedicated module quantified the number of spelling errors, distinguishing professionally edited news from unverified content.</a:t>
            </a:r>
          </a:p>
          <a:p>
            <a:r>
              <a:rPr lang="en-US" sz="17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Punctuation Analysis</a:t>
            </a:r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We tracked the density of exclamation (!) and question marks (?) to detect inflammatory or non-neutral rhetoric.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endParaRPr lang="it-IT" sz="17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11/27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554C9706-350E-2CDE-547D-26DCC41C2A04}"/>
              </a:ext>
            </a:extLst>
          </p:cNvPr>
          <p:cNvSpPr txBox="1">
            <a:spLocks/>
          </p:cNvSpPr>
          <p:nvPr/>
        </p:nvSpPr>
        <p:spPr>
          <a:xfrm>
            <a:off x="311700" y="10119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it-IT" sz="2000" b="1" dirty="0">
                <a:latin typeface="Roboto Serif"/>
                <a:ea typeface="Roboto Serif"/>
                <a:cs typeface="Roboto Serif"/>
                <a:sym typeface="Roboto Serif"/>
              </a:rPr>
              <a:t>Stylometric 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934266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 preprocessing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655798"/>
            <a:ext cx="8520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endParaRPr lang="it-IT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12/27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554C9706-350E-2CDE-547D-26DCC41C2A04}"/>
              </a:ext>
            </a:extLst>
          </p:cNvPr>
          <p:cNvSpPr txBox="1">
            <a:spLocks/>
          </p:cNvSpPr>
          <p:nvPr/>
        </p:nvSpPr>
        <p:spPr>
          <a:xfrm>
            <a:off x="311700" y="10119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it-IT" sz="2000" b="1" dirty="0">
                <a:latin typeface="Roboto Serif"/>
                <a:ea typeface="Roboto Serif"/>
                <a:cs typeface="Roboto Serif"/>
                <a:sym typeface="Roboto Serif"/>
              </a:rPr>
              <a:t>Stylometric Feature Engineering</a:t>
            </a:r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534B4A9-0896-5589-A545-547A3EE166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066"/>
          <a:stretch/>
        </p:blipFill>
        <p:spPr>
          <a:xfrm>
            <a:off x="2575377" y="3133477"/>
            <a:ext cx="3993246" cy="1828667"/>
          </a:xfrm>
          <a:prstGeom prst="rect">
            <a:avLst/>
          </a:prstGeom>
        </p:spPr>
      </p:pic>
      <p:pic>
        <p:nvPicPr>
          <p:cNvPr id="6" name="Picture 5" descr="A computer code with colorful text&#10;&#10;AI-generated content may be incorrect.">
            <a:extLst>
              <a:ext uri="{FF2B5EF4-FFF2-40B4-BE49-F238E27FC236}">
                <a16:creationId xmlns:a16="http://schemas.microsoft.com/office/drawing/2014/main" id="{A45CDCCD-6BA9-FBED-56DE-0989E557D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687" y="1584685"/>
            <a:ext cx="6748625" cy="135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854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 preprocessing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577250"/>
            <a:ext cx="8520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Noise Removal</a:t>
            </a:r>
            <a:r>
              <a:rPr lang="en-US" sz="16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We stripped non-alphanumeric characters using regular expressions.</a:t>
            </a:r>
          </a:p>
          <a:p>
            <a:r>
              <a:rPr lang="en-US" sz="16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Case Folding</a:t>
            </a:r>
            <a:r>
              <a:rPr lang="en-US" sz="16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All text was converted to lowercase to unify the vocabulary.</a:t>
            </a:r>
          </a:p>
          <a:p>
            <a:r>
              <a:rPr lang="en-US" sz="16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Tokenization</a:t>
            </a:r>
            <a:r>
              <a:rPr lang="en-US" sz="16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The clean text was segmented into individual tokens (words), which serve as the fundamental units for the subsequent vectorization.</a:t>
            </a:r>
          </a:p>
          <a:p>
            <a:r>
              <a:rPr lang="en-US" sz="16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Lemmatization</a:t>
            </a:r>
            <a:r>
              <a:rPr lang="en-US" sz="16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To group inflected forms of words, tokens were reduced to their morphological roots (e.g., ”running” to ”run”), thereby reducing the dimensionality of the feature space without losing semantic meaning.</a:t>
            </a:r>
          </a:p>
          <a:p>
            <a:r>
              <a:rPr lang="en-US" sz="16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 </a:t>
            </a:r>
            <a:r>
              <a:rPr lang="en-US" sz="1600" b="1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Stopword</a:t>
            </a:r>
            <a:r>
              <a:rPr lang="en-US" sz="16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Elimination</a:t>
            </a:r>
            <a:r>
              <a:rPr lang="en-US" sz="16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Beyond standard English </a:t>
            </a:r>
            <a:r>
              <a:rPr lang="en-US" sz="1600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stopwords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(e.g., ”of”, ”the”, ”in”), we implemented a targeted exclusion list based on our exploratory N-gram analysis.</a:t>
            </a:r>
            <a:endParaRPr lang="it-IT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13/27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554C9706-350E-2CDE-547D-26DCC41C2A04}"/>
              </a:ext>
            </a:extLst>
          </p:cNvPr>
          <p:cNvSpPr txBox="1">
            <a:spLocks/>
          </p:cNvSpPr>
          <p:nvPr/>
        </p:nvSpPr>
        <p:spPr>
          <a:xfrm>
            <a:off x="311700" y="10119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en-US" sz="2000" b="1" dirty="0">
                <a:latin typeface="Roboto Serif"/>
                <a:ea typeface="Roboto Serif"/>
                <a:cs typeface="Roboto Serif"/>
                <a:sym typeface="Roboto Serif"/>
              </a:rPr>
              <a:t>Text Normalization, Tokenization, and Leak-age Prevention</a:t>
            </a:r>
            <a:endParaRPr lang="it-IT" sz="200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  <p:extLst>
      <p:ext uri="{BB962C8B-B14F-4D97-AF65-F5344CB8AC3E}">
        <p14:creationId xmlns:p14="http://schemas.microsoft.com/office/powerpoint/2010/main" val="2344727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 preprocessing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14/27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554C9706-350E-2CDE-547D-26DCC41C2A04}"/>
              </a:ext>
            </a:extLst>
          </p:cNvPr>
          <p:cNvSpPr txBox="1">
            <a:spLocks/>
          </p:cNvSpPr>
          <p:nvPr/>
        </p:nvSpPr>
        <p:spPr>
          <a:xfrm>
            <a:off x="311700" y="10119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en-US" sz="2000" b="1" dirty="0">
                <a:latin typeface="Roboto Serif"/>
                <a:ea typeface="Roboto Serif"/>
                <a:cs typeface="Roboto Serif"/>
                <a:sym typeface="Roboto Serif"/>
              </a:rPr>
              <a:t>Text Normalization, Tokenization, and Leak-age Prevention</a:t>
            </a:r>
            <a:endParaRPr lang="it-IT" sz="200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5" name="Picture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22C6C544-02C5-9C5C-5C17-173EC0855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509" y="1644248"/>
            <a:ext cx="5806981" cy="291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55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 preprocessing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15/27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554C9706-350E-2CDE-547D-26DCC41C2A04}"/>
              </a:ext>
            </a:extLst>
          </p:cNvPr>
          <p:cNvSpPr txBox="1">
            <a:spLocks/>
          </p:cNvSpPr>
          <p:nvPr/>
        </p:nvSpPr>
        <p:spPr>
          <a:xfrm>
            <a:off x="311700" y="10119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en-US" sz="2000" b="1" dirty="0">
                <a:latin typeface="Roboto Serif"/>
                <a:ea typeface="Roboto Serif"/>
                <a:cs typeface="Roboto Serif"/>
                <a:sym typeface="Roboto Serif"/>
              </a:rPr>
              <a:t>Text Normalization, Tokenization, and Leak-age Prevention</a:t>
            </a:r>
            <a:endParaRPr lang="it-IT" sz="200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666868-18F2-DA50-8FA3-9890EA49F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279" y="1676903"/>
            <a:ext cx="6105442" cy="289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54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 preprocessing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699" y="1655797"/>
            <a:ext cx="8770423" cy="30074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lang="en-US" sz="17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Configuration</a:t>
            </a:r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 TF-IDF using 10,000 features (Unigrams &amp; Bigrams).</a:t>
            </a:r>
          </a:p>
          <a:p>
            <a:r>
              <a:rPr lang="en-US" sz="17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Dimensionality Control</a:t>
            </a:r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 </a:t>
            </a:r>
          </a:p>
          <a:p>
            <a:pPr lvl="1"/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Mitigates the "Curse of Dimensionality".</a:t>
            </a:r>
          </a:p>
          <a:p>
            <a:pPr lvl="1"/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Optimizes the data-to-feature ratio for 72,095 samples.</a:t>
            </a:r>
          </a:p>
          <a:p>
            <a:pPr lvl="1"/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Prevents statistical sparsity and improves class separability.</a:t>
            </a:r>
          </a:p>
          <a:p>
            <a:r>
              <a:rPr lang="en-US" sz="17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Noise Reduction</a:t>
            </a:r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 Focuses on high-signal linguistic patterns to minimize overfitting.</a:t>
            </a:r>
          </a:p>
          <a:p>
            <a:r>
              <a:rPr lang="en-US" sz="17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Experimental Integrity</a:t>
            </a:r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lvl="1"/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Vectorizer fitted exclusively on training folds.</a:t>
            </a:r>
          </a:p>
          <a:p>
            <a:pPr lvl="1"/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Zero-knowledge approach for validation/test sets to prevent Data Leakage.</a:t>
            </a: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16/27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554C9706-350E-2CDE-547D-26DCC41C2A04}"/>
              </a:ext>
            </a:extLst>
          </p:cNvPr>
          <p:cNvSpPr txBox="1">
            <a:spLocks/>
          </p:cNvSpPr>
          <p:nvPr/>
        </p:nvSpPr>
        <p:spPr>
          <a:xfrm>
            <a:off x="311700" y="10119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it-IT" sz="2000" b="1" dirty="0">
                <a:latin typeface="Roboto Serif"/>
                <a:ea typeface="Roboto Serif"/>
                <a:cs typeface="Roboto Serif"/>
                <a:sym typeface="Roboto Serif"/>
              </a:rPr>
              <a:t>Vectorization: 10,000 TF-IDF Features</a:t>
            </a:r>
          </a:p>
        </p:txBody>
      </p:sp>
    </p:spTree>
    <p:extLst>
      <p:ext uri="{BB962C8B-B14F-4D97-AF65-F5344CB8AC3E}">
        <p14:creationId xmlns:p14="http://schemas.microsoft.com/office/powerpoint/2010/main" val="3809772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 preprocessing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699" y="1545796"/>
            <a:ext cx="8832301" cy="32874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5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Objective</a:t>
            </a:r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 Harmonize stylometric features (e.g., text length, punctuation) with TF-IDF vectors.</a:t>
            </a:r>
          </a:p>
          <a:p>
            <a:r>
              <a:rPr lang="en-US" sz="15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Normalization</a:t>
            </a:r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lvl="1"/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Applied </a:t>
            </a:r>
            <a:r>
              <a:rPr lang="en-US" sz="1500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MinMaxScaler</a:t>
            </a:r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map all features to a fixed [0, 1] range.</a:t>
            </a:r>
          </a:p>
          <a:p>
            <a:pPr lvl="1"/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Prevents high-magnitude variables (character counts) from biasing the model.</a:t>
            </a:r>
          </a:p>
          <a:p>
            <a:pPr lvl="1"/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Aligns stylistic data with the inherently normalized TF-IDF scale.</a:t>
            </a:r>
          </a:p>
          <a:p>
            <a:r>
              <a:rPr lang="en-US" sz="15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Methodological Rigor</a:t>
            </a:r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/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Followed a "Zero-Knowledge" approach.</a:t>
            </a:r>
          </a:p>
          <a:p>
            <a:pPr lvl="1"/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Scaling parameters (min, max) were fitted only on training folds to prevent data leakage.</a:t>
            </a:r>
          </a:p>
          <a:p>
            <a:r>
              <a:rPr lang="en-US" sz="15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 Fusion</a:t>
            </a:r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Horizontal concatenation of the 5D stylistic vector and the sparse TF-IDF matrix to create the final feature set.</a:t>
            </a: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17/27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554C9706-350E-2CDE-547D-26DCC41C2A04}"/>
              </a:ext>
            </a:extLst>
          </p:cNvPr>
          <p:cNvSpPr txBox="1">
            <a:spLocks/>
          </p:cNvSpPr>
          <p:nvPr/>
        </p:nvSpPr>
        <p:spPr>
          <a:xfrm>
            <a:off x="311700" y="10119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it-IT" sz="2000" b="1" dirty="0">
                <a:latin typeface="Roboto Serif"/>
                <a:ea typeface="Roboto Serif"/>
                <a:cs typeface="Roboto Serif"/>
                <a:sym typeface="Roboto Serif"/>
              </a:rPr>
              <a:t>Feature Integration &amp; Scaling</a:t>
            </a:r>
          </a:p>
        </p:txBody>
      </p:sp>
    </p:spTree>
    <p:extLst>
      <p:ext uri="{BB962C8B-B14F-4D97-AF65-F5344CB8AC3E}">
        <p14:creationId xmlns:p14="http://schemas.microsoft.com/office/powerpoint/2010/main" val="2885266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 preprocessing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18/27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554C9706-350E-2CDE-547D-26DCC41C2A04}"/>
              </a:ext>
            </a:extLst>
          </p:cNvPr>
          <p:cNvSpPr txBox="1">
            <a:spLocks/>
          </p:cNvSpPr>
          <p:nvPr/>
        </p:nvSpPr>
        <p:spPr>
          <a:xfrm>
            <a:off x="311700" y="10119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it-IT" sz="2000" b="1" dirty="0">
                <a:latin typeface="Roboto Serif"/>
                <a:ea typeface="Roboto Serif"/>
                <a:cs typeface="Roboto Serif"/>
                <a:sym typeface="Roboto Serif"/>
              </a:rPr>
              <a:t>Vectorization &amp; Feature Integration &amp; Scaling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F761A8-F742-E92D-37B8-9DCB6FC9B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430" y="1705914"/>
            <a:ext cx="6433140" cy="307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207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Models evaluation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46750" y="1138425"/>
            <a:ext cx="8520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Validation Strategy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Stratified 10-Fold Cross-Validation.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Algorithms Tested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Logistic Regression, SVM, Random Forest, AdaBoost, LightGBM.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Winner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LightGBM (F1-Score: 0.971, Accuracy: 0.970).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Why LightGBM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? Best balance between speed, precision, and handling of our high-dimensional features (TF-IDF).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19/27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202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Models evaluation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20/27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B9786BB9-5803-876E-DDEB-90AF2C083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934" y="1456985"/>
            <a:ext cx="7394132" cy="222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81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Models evaluation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21/27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3" descr="A blue squares with numbers&#10;&#10;AI-generated content may be incorrect.">
            <a:extLst>
              <a:ext uri="{FF2B5EF4-FFF2-40B4-BE49-F238E27FC236}">
                <a16:creationId xmlns:a16="http://schemas.microsoft.com/office/drawing/2014/main" id="{46BA1B64-6D13-6C39-1ED3-6F061477E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080" y="855828"/>
            <a:ext cx="6075839" cy="406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55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LightGBM optimization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46750" y="1138425"/>
            <a:ext cx="8520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Technique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Grid Search with Stratified Cross-Validation.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Target Metric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Maximizing F1-Score.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Tuned Parameters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learning_rate, num_leaves, max_depth, n_estimators.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Final Result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F1-Score increased to 97.9% (Accuracy: 97.9%).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Key Benefit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Better generalization and lower risk of overfitting.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22/27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76970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LightGBM optimization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23/27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6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BB39854A-617E-51AF-CBC2-5D1150F22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05473"/>
            <a:ext cx="3612324" cy="2740624"/>
          </a:xfrm>
          <a:prstGeom prst="rect">
            <a:avLst/>
          </a:prstGeom>
        </p:spPr>
      </p:pic>
      <p:pic>
        <p:nvPicPr>
          <p:cNvPr id="6" name="Picture 5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9582D80C-799F-D454-0A4B-0E9793E15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00" y="1505473"/>
            <a:ext cx="3612325" cy="274062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35A507F-C676-F51D-35EA-593B7B0F3122}"/>
              </a:ext>
            </a:extLst>
          </p:cNvPr>
          <p:cNvCxnSpPr/>
          <p:nvPr/>
        </p:nvCxnSpPr>
        <p:spPr>
          <a:xfrm>
            <a:off x="4340352" y="1377696"/>
            <a:ext cx="0" cy="316382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191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Model explainability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46750" y="1138425"/>
            <a:ext cx="8520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sz="1700" b="1" dirty="0">
                <a:latin typeface="Open Sans"/>
                <a:ea typeface="Open Sans"/>
                <a:cs typeface="Open Sans"/>
                <a:sym typeface="Open Sans"/>
              </a:rPr>
              <a:t>The "Black Box" Problem</a:t>
            </a:r>
            <a:r>
              <a:rPr lang="it-IT" sz="1700" dirty="0">
                <a:latin typeface="Open Sans"/>
                <a:ea typeface="Open Sans"/>
                <a:cs typeface="Open Sans"/>
                <a:sym typeface="Open Sans"/>
              </a:rPr>
              <a:t>: High performance requires transparency and trust.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sz="1700" b="1" dirty="0">
                <a:latin typeface="Open Sans"/>
                <a:ea typeface="Open Sans"/>
                <a:cs typeface="Open Sans"/>
                <a:sym typeface="Open Sans"/>
              </a:rPr>
              <a:t>Global Interpretation (SHAP)</a:t>
            </a:r>
            <a:r>
              <a:rPr lang="it-IT" sz="1700" dirty="0"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it-IT" sz="1700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sz="1700" dirty="0">
                <a:latin typeface="Open Sans"/>
                <a:ea typeface="Open Sans"/>
                <a:cs typeface="Open Sans"/>
                <a:sym typeface="Open Sans"/>
              </a:rPr>
              <a:t>Identifies the most impactful features across the entire dataset (e.g., specific keywords, exclamation ratio).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sz="1700" b="1" dirty="0">
                <a:latin typeface="Open Sans"/>
                <a:ea typeface="Open Sans"/>
                <a:cs typeface="Open Sans"/>
                <a:sym typeface="Open Sans"/>
              </a:rPr>
              <a:t>Local Interpretation (LIME)</a:t>
            </a:r>
            <a:r>
              <a:rPr lang="it-IT" sz="1700" dirty="0"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it-IT" sz="1700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sz="1700" dirty="0">
                <a:latin typeface="Open Sans"/>
                <a:ea typeface="Open Sans"/>
                <a:cs typeface="Open Sans"/>
                <a:sym typeface="Open Sans"/>
              </a:rPr>
              <a:t>Explains single, real-time predictions to the end-user.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sz="1700" b="1" dirty="0">
                <a:latin typeface="Open Sans"/>
                <a:ea typeface="Open Sans"/>
                <a:cs typeface="Open Sans"/>
                <a:sym typeface="Open Sans"/>
              </a:rPr>
              <a:t>Our Strategy</a:t>
            </a:r>
            <a:r>
              <a:rPr lang="it-IT" sz="1700" dirty="0">
                <a:latin typeface="Open Sans"/>
                <a:ea typeface="Open Sans"/>
                <a:cs typeface="Open Sans"/>
                <a:sym typeface="Open Sans"/>
              </a:rPr>
              <a:t>: SHAP for model validation, LIME for user-facing transparency.</a:t>
            </a:r>
            <a:endParaRPr sz="17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24/27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79754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Model explainability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25/27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AD0649EA-B411-6E97-7D69-E179149355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15"/>
          <a:stretch/>
        </p:blipFill>
        <p:spPr>
          <a:xfrm>
            <a:off x="3953595" y="1424940"/>
            <a:ext cx="4878705" cy="308609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958559-3D62-1462-D80F-B7102E96676A}"/>
              </a:ext>
            </a:extLst>
          </p:cNvPr>
          <p:cNvCxnSpPr>
            <a:cxnSpLocks/>
          </p:cNvCxnSpPr>
          <p:nvPr/>
        </p:nvCxnSpPr>
        <p:spPr>
          <a:xfrm>
            <a:off x="3923115" y="1066800"/>
            <a:ext cx="0" cy="38862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D254120-E3D2-87D6-DA03-6E4ECE6C3E03}"/>
              </a:ext>
            </a:extLst>
          </p:cNvPr>
          <p:cNvSpPr txBox="1"/>
          <p:nvPr/>
        </p:nvSpPr>
        <p:spPr>
          <a:xfrm>
            <a:off x="134113" y="829170"/>
            <a:ext cx="44378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SHAP summary plot – 20 most important features</a:t>
            </a:r>
          </a:p>
        </p:txBody>
      </p:sp>
      <p:pic>
        <p:nvPicPr>
          <p:cNvPr id="13" name="Picture 12" descr="A screen shot of a graph&#10;&#10;AI-generated content may be incorrect.">
            <a:extLst>
              <a:ext uri="{FF2B5EF4-FFF2-40B4-BE49-F238E27FC236}">
                <a16:creationId xmlns:a16="http://schemas.microsoft.com/office/drawing/2014/main" id="{62661D18-C171-0F0D-9E0B-C8C8EF5D4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51" y="1059801"/>
            <a:ext cx="3263703" cy="39382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818A1B8-AE86-08C1-7083-CB94F74217F5}"/>
              </a:ext>
            </a:extLst>
          </p:cNvPr>
          <p:cNvSpPr txBox="1"/>
          <p:nvPr/>
        </p:nvSpPr>
        <p:spPr>
          <a:xfrm>
            <a:off x="4825108" y="1090718"/>
            <a:ext cx="44378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did the model classify article 1 like this?</a:t>
            </a:r>
          </a:p>
        </p:txBody>
      </p:sp>
    </p:spTree>
    <p:extLst>
      <p:ext uri="{BB962C8B-B14F-4D97-AF65-F5344CB8AC3E}">
        <p14:creationId xmlns:p14="http://schemas.microsoft.com/office/powerpoint/2010/main" val="40803595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Our App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46750" y="1138424"/>
            <a:ext cx="8520600" cy="25039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en-US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End-to-End Pipeline: </a:t>
            </a:r>
            <a:r>
              <a:rPr lang="en-US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Real-time inference using the optimized </a:t>
            </a:r>
            <a:r>
              <a:rPr lang="en-US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LightGBM</a:t>
            </a:r>
            <a:r>
              <a:rPr lang="en-US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model.</a:t>
            </a:r>
          </a:p>
          <a:p>
            <a:r>
              <a:rPr lang="en-US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Dual Input Architecture:</a:t>
            </a:r>
          </a:p>
          <a:p>
            <a:pPr lvl="1"/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Online Mode (URL): 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Automated web scraping to extract title and body from live articles.</a:t>
            </a:r>
          </a:p>
          <a:p>
            <a:pPr lvl="1"/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Offline Mode (Manual): 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Direct raw text input for unpublished or custom content..</a:t>
            </a:r>
          </a:p>
          <a:p>
            <a:r>
              <a:rPr lang="en-US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Transparent Output: </a:t>
            </a:r>
            <a:r>
              <a:rPr lang="en-US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Automated generation of an interactive </a:t>
            </a:r>
            <a:r>
              <a:rPr lang="en-US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LIME Report </a:t>
            </a:r>
            <a:r>
              <a:rPr lang="en-US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the end-user.</a:t>
            </a:r>
            <a:endParaRPr lang="it-IT" dirty="0">
              <a:latin typeface="Open Sans"/>
              <a:ea typeface="Open Sans"/>
              <a:cs typeface="Open Sans"/>
              <a:sym typeface="Open Sans"/>
            </a:endParaRPr>
          </a:p>
          <a:p>
            <a:pPr marL="571500" lvl="1" indent="0">
              <a:lnSpc>
                <a:spcPct val="150000"/>
              </a:lnSpc>
              <a:buSzPts val="1800"/>
              <a:buNone/>
            </a:pPr>
            <a:endParaRPr lang="it-IT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26/27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13738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Conclusion and future works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46750" y="1138424"/>
            <a:ext cx="8520600" cy="36771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Mission Accomplished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: High-performance hybrid model (97.9% F1-Score).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Transparency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: Successfully bridged the gap between complex ML and user trust (Explainable AI).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Ready-to-Use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: Delivered a functional, real-time Fake News Detector App.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Advanced Deep Learning</a:t>
            </a:r>
            <a:r>
              <a:rPr lang="it-IT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: Transition to Transformer-based models (e.g., BERT / RoBERTa).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Bias Mitigation</a:t>
            </a:r>
            <a:r>
              <a:rPr lang="it-IT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: Expand dataset to reduce US-politics domain bias.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Multilingual Support</a:t>
            </a:r>
            <a:r>
              <a:rPr lang="it-IT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: Extend detection capabilities beyond the English language.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27/27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38683385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1113</Words>
  <Application>Microsoft Office PowerPoint</Application>
  <PresentationFormat>On-screen Show (16:9)</PresentationFormat>
  <Paragraphs>138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Times New Roman</vt:lpstr>
      <vt:lpstr>Open Sans</vt:lpstr>
      <vt:lpstr>Arial</vt:lpstr>
      <vt:lpstr>Roboto Serif</vt:lpstr>
      <vt:lpstr>Simple Light</vt:lpstr>
      <vt:lpstr>Fake news detection Machine Learning &amp; Data Mining A.A. 2025-2026</vt:lpstr>
      <vt:lpstr>Problem</vt:lpstr>
      <vt:lpstr>Our proposal</vt:lpstr>
      <vt:lpstr>Dataset &amp; EDA</vt:lpstr>
      <vt:lpstr>Dataset &amp; EDA</vt:lpstr>
      <vt:lpstr>Dataset &amp; EDA</vt:lpstr>
      <vt:lpstr>Dataset &amp; EDA</vt:lpstr>
      <vt:lpstr>Dataset &amp; EDA</vt:lpstr>
      <vt:lpstr>Dataset &amp; EDA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Models evaluation</vt:lpstr>
      <vt:lpstr>Models evaluation</vt:lpstr>
      <vt:lpstr>Models evaluation</vt:lpstr>
      <vt:lpstr>LightGBM optimization</vt:lpstr>
      <vt:lpstr>LightGBM optimization</vt:lpstr>
      <vt:lpstr>Model explainability</vt:lpstr>
      <vt:lpstr>Model explainability</vt:lpstr>
      <vt:lpstr>Our App</vt:lpstr>
      <vt:lpstr>Conclusion and future 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Andrea Giacomazzi</cp:lastModifiedBy>
  <cp:revision>11</cp:revision>
  <dcterms:modified xsi:type="dcterms:W3CDTF">2026-05-09T08:43:25Z</dcterms:modified>
</cp:coreProperties>
</file>